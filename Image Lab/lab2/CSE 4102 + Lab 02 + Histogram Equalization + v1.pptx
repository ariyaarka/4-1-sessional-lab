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73" r:id="rId3"/>
    <p:sldId id="429" r:id="rId4"/>
    <p:sldId id="275" r:id="rId5"/>
    <p:sldId id="276" r:id="rId6"/>
    <p:sldId id="274" r:id="rId7"/>
    <p:sldId id="430" r:id="rId8"/>
    <p:sldId id="431" r:id="rId9"/>
    <p:sldId id="433" r:id="rId10"/>
    <p:sldId id="435" r:id="rId11"/>
    <p:sldId id="432" r:id="rId12"/>
    <p:sldId id="272" r:id="rId13"/>
    <p:sldId id="282" r:id="rId14"/>
    <p:sldId id="292" r:id="rId15"/>
    <p:sldId id="326" r:id="rId16"/>
    <p:sldId id="270" r:id="rId17"/>
    <p:sldId id="43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F1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049794-C84E-4082-8D4E-5398E1A45EA7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BBC0CB-5391-4231-9479-19483AC32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304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38421849-A722-7DE4-F9DD-27B536831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8D8A9ACE-4417-42F9-1E5B-635A334B3F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7E04D8BC-9992-8116-8A07-AFBE377B4F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7745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7A3FF-9141-45E8-B755-E24412292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DFA5BA-64EF-4BEF-A77D-59421F1CC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374BA-0BF1-464A-A206-139518D50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C1B8-AD85-425D-A891-7F7F61302E2F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45264-C8F3-454B-A2E8-F18608F54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407D2-BE6D-49D3-B82D-F52DAF80B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279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0D6E4-58FD-4F5E-8EF0-25336D491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7887"/>
          </a:xfrm>
        </p:spPr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BAE46-2D00-4EA2-BB3E-0D91A14A6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1271"/>
            <a:ext cx="10515600" cy="49756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3BC85-5AB3-4E0B-B666-19AC052F6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7C1C3-5378-46F6-AA21-02B58FE971C6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DC114-8F75-43E7-979F-EF5C20015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6C484-0E3A-44EA-8559-A22A2FCB7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F1BBE439-A689-4E67-A7FC-21353A5E32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770D6A-3FD7-42FD-A476-85B1F00CAE44}"/>
              </a:ext>
            </a:extLst>
          </p:cNvPr>
          <p:cNvSpPr/>
          <p:nvPr userDrawn="1"/>
        </p:nvSpPr>
        <p:spPr>
          <a:xfrm>
            <a:off x="775447" y="1013012"/>
            <a:ext cx="10578353" cy="12443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75000"/>
                </a:schemeClr>
              </a:gs>
              <a:gs pos="8300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003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E8847-C3B2-4062-A312-8470639A4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B21D18-4B57-451B-BCCE-6270B470F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78026-920F-41C1-B09C-9C3AEC60F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A1A5E-9C33-4F86-80D9-4BAED0911429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4277F-A567-4DE2-9069-3486F087A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7B2B2-8F13-43E4-8DBE-5E0DC650A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107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F2885-D6AE-444D-9E93-D461D38D3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7F0B0-7675-4CB4-B1F3-D1239E0E69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E5491B-C40B-49C8-B56B-A1623FEF1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E647DA-E47F-4B79-A90B-AFF638B14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02CB-F384-4A4C-82B8-79D60BFA27C5}" type="datetime1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827053-2487-412D-BFB4-93DBFC62E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A22E3A-B41E-4F6A-88ED-78DFFE1A5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190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B6F89-A02B-4132-8774-A1395D1BC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62E5F-CA6C-4EDF-BD48-366EC90FF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5B0677-BED7-4216-8A86-EA73D3EB0D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26D05D-3447-4084-824C-10B6401718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572110-AAE1-4116-8304-1279B9FEB7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AB4AC0-DA9C-4B3B-B738-64DA18BE9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11134-CF07-4806-AC2D-C4CF86D8AF9B}" type="datetime1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BC0346-E7CA-49D4-9F16-C51CE8763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C20EDF-1961-4C69-B624-FB250EC38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14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3C67B-7AEC-4DE3-B0C0-3F3AAE23B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3688C5-E58C-49CE-995A-8C22DF6AB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67434-8F23-4DD5-BD51-853123BE4FA3}" type="datetime1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2F5AB5-AB00-4E48-9ACA-C9C8EF727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57664E-F5E7-44AA-8CB8-05E72BB28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151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902297-8E8E-4AB4-9D68-4806C3DB4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706E-2165-4BB6-98D7-C9EE277D9AF2}" type="datetime1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C1B121-2BB3-4C47-A8BB-0235FCC1B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A7427-D0DA-442F-8D0D-0CDCA9E6E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4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45488-B7DC-4233-9CF4-2BAB6D273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622CB-FD0D-48BF-BEE0-48F522DA5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AF1D7-322A-4F2D-B449-0B75EDAF8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6A572E-12A5-4C6D-A0BD-E26583CA3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749A3-5F0E-45E0-B660-E2BE0FDEF0DF}" type="datetime1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1F9001-C117-4F23-B486-FA2667148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C58DF-A1AA-4DBF-A169-6C121FC4F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024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F773-E3C1-45FC-89A6-256624740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7E4D61-5EDE-4C65-9A9B-95B9E159F8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5776EE-E80C-4D2F-BF09-A2C53CFBA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EE148-6E35-4ACE-AA60-7DB5D026D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F3D22-82D8-46A7-A4C0-7A6FA54084BE}" type="datetime1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7B866B-8263-405B-9B0A-014EF7528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BC9C8-57C6-442E-9CD2-DE1361F90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384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F9DA2-750B-4770-9615-DBF50FDEA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73B329-366B-4364-B3DD-6B02391CA8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02620-E180-41CB-8196-DC02A9AE5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F004B-D373-4ACF-8E4D-48BE0C605F2C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19B56-7EC3-4CAC-A2B1-D41860A07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3C05D-D514-433F-BF5B-B3AF24962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23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58BD37-5EEC-4278-9EE0-DEDA68523E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954F55-9B66-4AF7-861C-2816F301B6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E022F-DB20-48FF-B7DE-A7D6AE7AC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75FD9-FC47-40E4-9D7D-6C72459C26E6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4F91C-FF26-425A-85F3-7D114B001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4D104-020C-4293-8961-D68B124F2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264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AFB313-169D-44B0-B14E-EBFDCD9F3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043F3-FEEE-4505-B1D8-82EAFD184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39A35-A1B8-43A6-9D9A-6497217D9C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B2897B-F47E-49C0-A30B-118D7B86E5F3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C52CA-23CF-4E6B-ADFB-73587FFDB2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1C351-54FE-4C8D-8888-FAE1CFCA2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517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EC2EB1E-AE7D-4CC4-A870-7B3A94A884E7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3600"/>
              </a:spcAft>
            </a:pPr>
            <a:r>
              <a:rPr lang="en-US" sz="4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 4102</a:t>
            </a:r>
            <a:br>
              <a:rPr lang="en-US" sz="4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Graphics and Image Processing  </a:t>
            </a:r>
            <a:b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Laboratory</a:t>
            </a:r>
            <a:b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2: Histogram Equalization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B72110-2830-405F-A97D-38124C49880A}"/>
              </a:ext>
            </a:extLst>
          </p:cNvPr>
          <p:cNvSpPr txBox="1"/>
          <p:nvPr/>
        </p:nvSpPr>
        <p:spPr>
          <a:xfrm>
            <a:off x="7439269" y="4332990"/>
            <a:ext cx="37612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Md. </a:t>
            </a:r>
            <a:r>
              <a:rPr lang="en-US" sz="2400" b="1" dirty="0" err="1"/>
              <a:t>Mubtashim</a:t>
            </a:r>
            <a:r>
              <a:rPr lang="en-US" sz="2400" b="1" dirty="0"/>
              <a:t> Abrar Nihal</a:t>
            </a:r>
          </a:p>
          <a:p>
            <a:r>
              <a:rPr lang="en-US" sz="2400" dirty="0"/>
              <a:t>Lecturer</a:t>
            </a:r>
          </a:p>
          <a:p>
            <a:r>
              <a:rPr lang="en-US" sz="2400" dirty="0"/>
              <a:t>Dept. of CSE, KUET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7AB50B-0179-40F3-A610-EF4D08807941}"/>
              </a:ext>
            </a:extLst>
          </p:cNvPr>
          <p:cNvSpPr txBox="1"/>
          <p:nvPr/>
        </p:nvSpPr>
        <p:spPr>
          <a:xfrm>
            <a:off x="1524000" y="4332989"/>
            <a:ext cx="29520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Md Tajmilur Rahman</a:t>
            </a:r>
          </a:p>
          <a:p>
            <a:r>
              <a:rPr lang="en-US" sz="2400" dirty="0"/>
              <a:t>Lecturer</a:t>
            </a:r>
          </a:p>
          <a:p>
            <a:r>
              <a:rPr lang="en-US" sz="2400" dirty="0"/>
              <a:t>Dept. of CSE, KUET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29293B8-AE69-4EB7-8E1B-F058A1AF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185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B96D2-A7D1-40BE-8F7D-8B21874B1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Histogram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1BB257-F9D6-42AA-8843-97562ED042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72989"/>
                <a:ext cx="10515600" cy="4975692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US" dirty="0"/>
                  <a:t>The histogram of an image consists of the x-axis representing the intensity levels </a:t>
                </a:r>
                <a:r>
                  <a:rPr lang="en-US" dirty="0" err="1"/>
                  <a:t>r</a:t>
                </a:r>
                <a:r>
                  <a:rPr lang="en-US" baseline="-25000" dirty="0" err="1"/>
                  <a:t>k</a:t>
                </a:r>
                <a:r>
                  <a:rPr lang="en-US" dirty="0"/>
                  <a:t> and the y-axis denoting the h(</a:t>
                </a:r>
                <a:r>
                  <a:rPr lang="en-US" dirty="0" err="1"/>
                  <a:t>r</a:t>
                </a:r>
                <a:r>
                  <a:rPr lang="en-US" baseline="-25000" dirty="0" err="1"/>
                  <a:t>k</a:t>
                </a:r>
                <a:r>
                  <a:rPr lang="en-US" dirty="0"/>
                  <a:t>) or the p(</a:t>
                </a:r>
                <a:r>
                  <a:rPr lang="en-US" dirty="0" err="1"/>
                  <a:t>r</a:t>
                </a:r>
                <a:r>
                  <a:rPr lang="en-US" baseline="-25000" dirty="0" err="1"/>
                  <a:t>k</a:t>
                </a:r>
                <a:r>
                  <a:rPr lang="en-US" dirty="0"/>
                  <a:t>) functions. </a:t>
                </a:r>
              </a:p>
              <a:p>
                <a:pPr marL="0" indent="0" algn="ctr">
                  <a:buNone/>
                </a:pPr>
                <a:r>
                  <a:rPr lang="en-US" sz="2800" b="1" dirty="0">
                    <a:solidFill>
                      <a:srgbClr val="000000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𝐡</m:t>
                    </m:r>
                    <m:r>
                      <a:rPr lang="en-US" sz="28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𝐫</m:t>
                        </m:r>
                      </m:e>
                      <m:sub>
                        <m:r>
                          <a:rPr lang="en-US" sz="2800" b="1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sub>
                    </m:sSub>
                    <m:r>
                      <a:rPr lang="en-US" sz="2800" b="1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sz="2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  <m:sub>
                        <m:r>
                          <a:rPr lang="en-US" sz="2800" b="1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1BB257-F9D6-42AA-8843-97562ED042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72989"/>
                <a:ext cx="10515600" cy="4975692"/>
              </a:xfrm>
              <a:blipFill>
                <a:blip r:embed="rId2"/>
                <a:stretch>
                  <a:fillRect l="-1217" t="-2083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B7EB72A-DC0D-4265-831B-415EC8325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0679" y="3068812"/>
            <a:ext cx="4576099" cy="269289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9A93E-833D-4CB6-8791-D04908640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549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247DA21-F60A-8DB4-B30B-982893599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853F9C44-C520-F40A-A69C-B7362EE647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984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4400"/>
              <a:buFont typeface="Calibri"/>
              <a:buNone/>
            </a:pPr>
            <a:r>
              <a:rPr lang="en-GB" sz="4000" dirty="0">
                <a:solidFill>
                  <a:srgbClr val="2F5496"/>
                </a:solidFill>
              </a:rPr>
              <a:t>Histogram Processing</a:t>
            </a:r>
            <a:endParaRPr lang="en-GB" sz="4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CF4203-E9F5-5364-2BEB-0DD11DFB1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04950"/>
            <a:ext cx="10286999" cy="4672013"/>
          </a:xfrm>
        </p:spPr>
        <p:txBody>
          <a:bodyPr/>
          <a:lstStyle/>
          <a:p>
            <a:r>
              <a:rPr lang="en-US" dirty="0"/>
              <a:t>A discrete function </a:t>
            </a:r>
            <a:r>
              <a:rPr lang="en-US" b="1" dirty="0"/>
              <a:t>h(</a:t>
            </a:r>
            <a:r>
              <a:rPr lang="en-US" b="1" dirty="0" err="1"/>
              <a:t>r</a:t>
            </a:r>
            <a:r>
              <a:rPr lang="en-US" b="1" baseline="-25000" dirty="0" err="1"/>
              <a:t>k</a:t>
            </a:r>
            <a:r>
              <a:rPr lang="en-US" b="1" dirty="0"/>
              <a:t>) = </a:t>
            </a:r>
            <a:r>
              <a:rPr lang="en-US" b="1" dirty="0" err="1"/>
              <a:t>n</a:t>
            </a:r>
            <a:r>
              <a:rPr lang="en-US" b="1" baseline="-25000" dirty="0" err="1"/>
              <a:t>k</a:t>
            </a:r>
            <a:endParaRPr lang="en-US" b="1" baseline="-25000" dirty="0"/>
          </a:p>
          <a:p>
            <a:r>
              <a:rPr lang="en-US" dirty="0"/>
              <a:t>Where </a:t>
            </a:r>
            <a:r>
              <a:rPr lang="en-US" dirty="0" err="1"/>
              <a:t>r</a:t>
            </a:r>
            <a:r>
              <a:rPr lang="en-US" baseline="-25000" dirty="0" err="1"/>
              <a:t>k</a:t>
            </a:r>
            <a:r>
              <a:rPr lang="en-US" dirty="0"/>
              <a:t> is the k</a:t>
            </a:r>
            <a:r>
              <a:rPr lang="en-US" baseline="30000" dirty="0"/>
              <a:t>th</a:t>
            </a:r>
            <a:r>
              <a:rPr lang="en-US" dirty="0"/>
              <a:t> intensity value and </a:t>
            </a:r>
            <a:r>
              <a:rPr lang="en-US" dirty="0" err="1"/>
              <a:t>n</a:t>
            </a:r>
            <a:r>
              <a:rPr lang="en-US" baseline="-25000" dirty="0" err="1"/>
              <a:t>k</a:t>
            </a:r>
            <a:r>
              <a:rPr lang="en-US" dirty="0"/>
              <a:t> is the number of pixels in the image with intensity </a:t>
            </a:r>
            <a:r>
              <a:rPr lang="en-US" dirty="0" err="1"/>
              <a:t>r</a:t>
            </a:r>
            <a:r>
              <a:rPr lang="en-US" baseline="-25000" dirty="0" err="1"/>
              <a:t>k</a:t>
            </a:r>
            <a:r>
              <a:rPr lang="en-US" dirty="0"/>
              <a:t> </a:t>
            </a:r>
          </a:p>
          <a:p>
            <a:r>
              <a:rPr lang="en-US" dirty="0"/>
              <a:t>Normalized histogram </a:t>
            </a:r>
            <a:r>
              <a:rPr lang="en-US" b="1" dirty="0"/>
              <a:t>p(</a:t>
            </a:r>
            <a:r>
              <a:rPr lang="en-US" b="1" dirty="0" err="1"/>
              <a:t>r</a:t>
            </a:r>
            <a:r>
              <a:rPr lang="en-US" b="1" baseline="-25000" dirty="0" err="1"/>
              <a:t>k</a:t>
            </a:r>
            <a:r>
              <a:rPr lang="en-US" b="1" dirty="0"/>
              <a:t>) = </a:t>
            </a:r>
            <a:r>
              <a:rPr lang="en-US" b="1" dirty="0" err="1"/>
              <a:t>n</a:t>
            </a:r>
            <a:r>
              <a:rPr lang="en-US" b="1" baseline="-25000" dirty="0" err="1"/>
              <a:t>k</a:t>
            </a:r>
            <a:r>
              <a:rPr lang="en-US" b="1" dirty="0"/>
              <a:t>/MN</a:t>
            </a:r>
          </a:p>
          <a:p>
            <a:r>
              <a:rPr lang="en-US" dirty="0"/>
              <a:t>Where M and N are row and column dimensions of the image</a:t>
            </a:r>
          </a:p>
          <a:p>
            <a:r>
              <a:rPr lang="en-US" dirty="0"/>
              <a:t>Sum of all components of a normalized histogram is equal to 1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E3E701-1602-DB29-C5ED-71AB80C350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1541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B30D9-CCDB-4B3A-9395-87475CED2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PDF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CFC54C-6379-45E0-B287-2B28134705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just">
                  <a:buNone/>
                </a:pPr>
                <a:r>
                  <a:rPr lang="en-US" sz="2400" b="1" dirty="0"/>
                  <a:t>PDF </a:t>
                </a:r>
                <a:r>
                  <a:rPr lang="en-US" sz="2400" dirty="0"/>
                  <a:t>stands for probability density function. It's a function where you can think of the x values as the range of possible occurring values and y values as their probability of occurrence.</a:t>
                </a:r>
              </a:p>
              <a:p>
                <a:pPr marL="0" indent="0" algn="ctr">
                  <a:buNone/>
                </a:pPr>
                <a:r>
                  <a:rPr lang="en-US" sz="2400" b="1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d>
                      <m:dPr>
                        <m:ctrlPr>
                          <a:rPr lang="en-US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e>
                    </m:d>
                    <m:r>
                      <a:rPr lang="en-US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num>
                      <m:den>
                        <m:r>
                          <a:rPr lang="en-US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𝑴𝑵</m:t>
                        </m:r>
                      </m:den>
                    </m:f>
                  </m:oMath>
                </a14:m>
                <a:r>
                  <a:rPr lang="en-US" sz="2400" b="1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=0,1,2……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br>
                  <a:rPr lang="en-US" sz="2400" b="1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en-US" sz="2400" b="1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400" b="1">
                          <a:solidFill>
                            <a:srgbClr val="000000"/>
                          </a:solidFill>
                        </a:rPr>
                        <m:t>: 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rgbClr val="000000"/>
                          </a:solidFill>
                        </a:rPr>
                        <m:t>the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rgbClr val="0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rgbClr val="000000"/>
                          </a:solidFill>
                        </a:rPr>
                        <m:t>number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rgbClr val="0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rgbClr val="000000"/>
                          </a:solidFill>
                        </a:rPr>
                        <m:t>of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rgbClr val="0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rgbClr val="000000"/>
                          </a:solidFill>
                        </a:rPr>
                        <m:t>pixels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rgbClr val="0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rgbClr val="000000"/>
                          </a:solidFill>
                        </a:rPr>
                        <m:t>in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rgbClr val="0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rgbClr val="000000"/>
                          </a:solidFill>
                        </a:rPr>
                        <m:t>the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rgbClr val="0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rgbClr val="000000"/>
                          </a:solidFill>
                        </a:rPr>
                        <m:t>image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rgbClr val="0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rgbClr val="000000"/>
                          </a:solidFill>
                        </a:rPr>
                        <m:t>of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rgbClr val="000000"/>
                          </a:solidFill>
                        </a:rPr>
                        <m:t>  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rgbClr val="000000"/>
                          </a:solidFill>
                        </a:rPr>
                        <m:t>size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rgbClr val="0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rgbClr val="000000"/>
                          </a:solidFill>
                        </a:rPr>
                        <m:t>M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rgbClr val="000000"/>
                          </a:solidFill>
                        </a:rPr>
                        <m:t>N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rgbClr val="0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rgbClr val="000000"/>
                          </a:solidFill>
                        </a:rPr>
                        <m:t>with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rgbClr val="0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rgbClr val="000000"/>
                          </a:solidFill>
                        </a:rPr>
                        <m:t>intensity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rgbClr val="000000"/>
                          </a:solidFill>
                        </a:rPr>
                        <m:t>  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CFC54C-6379-45E0-B287-2B28134705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716" r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histogram">
            <a:extLst>
              <a:ext uri="{FF2B5EF4-FFF2-40B4-BE49-F238E27FC236}">
                <a16:creationId xmlns:a16="http://schemas.microsoft.com/office/drawing/2014/main" id="{EFE4FBB2-18C4-4948-B5AA-36AAE76AA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992" y="3695700"/>
            <a:ext cx="3971925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istogram">
            <a:extLst>
              <a:ext uri="{FF2B5EF4-FFF2-40B4-BE49-F238E27FC236}">
                <a16:creationId xmlns:a16="http://schemas.microsoft.com/office/drawing/2014/main" id="{C49E551A-0ABB-42AE-B3D4-FBF7C1BD1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4940" y="3695700"/>
            <a:ext cx="3971925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1328FF3-1CFB-4D09-BE55-DD98BE82E944}"/>
              </a:ext>
            </a:extLst>
          </p:cNvPr>
          <p:cNvSpPr txBox="1"/>
          <p:nvPr/>
        </p:nvSpPr>
        <p:spPr>
          <a:xfrm>
            <a:off x="7738090" y="5748100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PDF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86E7C52-58EC-4ECE-92F4-154D75411B30}"/>
                  </a:ext>
                </a:extLst>
              </p:cNvPr>
              <p:cNvSpPr txBox="1"/>
              <p:nvPr/>
            </p:nvSpPr>
            <p:spPr>
              <a:xfrm>
                <a:off x="3401764" y="5759493"/>
                <a:ext cx="4923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e>
                        <m:sub>
                          <m:r>
                            <a:rPr lang="en-US" sz="1800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86E7C52-58EC-4ECE-92F4-154D75411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1764" y="5759493"/>
                <a:ext cx="492379" cy="369332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A189C7B-0AFA-44AE-8FDD-1EE860722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411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28300-EBCD-4F08-B289-EEB6A3C2E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CDF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15987-EA10-408B-A0A8-E1632BD26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i="0" dirty="0">
                <a:solidFill>
                  <a:srgbClr val="040C28"/>
                </a:solidFill>
                <a:effectLst/>
              </a:rPr>
              <a:t>CDF </a:t>
            </a:r>
            <a:r>
              <a:rPr lang="en-US" sz="2400" b="0" i="0" dirty="0">
                <a:solidFill>
                  <a:srgbClr val="040C28"/>
                </a:solidFill>
                <a:effectLst/>
              </a:rPr>
              <a:t>holds the probability of a probability distribution less than or equal to a particular value. </a:t>
            </a:r>
          </a:p>
          <a:p>
            <a:r>
              <a:rPr lang="en-US" sz="2400" b="0" i="0" dirty="0">
                <a:solidFill>
                  <a:srgbClr val="040C28"/>
                </a:solidFill>
                <a:effectLst/>
              </a:rPr>
              <a:t>It is a function that calculates the cumulative sum of all the values that are calculated by PDF.</a:t>
            </a:r>
          </a:p>
          <a:p>
            <a:endParaRPr lang="en-US" b="0" i="0" dirty="0">
              <a:solidFill>
                <a:srgbClr val="040C28"/>
              </a:solidFill>
              <a:effectLst/>
              <a:latin typeface="Google Sans"/>
            </a:endParaRPr>
          </a:p>
          <a:p>
            <a:endParaRPr lang="en-US" dirty="0"/>
          </a:p>
        </p:txBody>
      </p:sp>
      <p:pic>
        <p:nvPicPr>
          <p:cNvPr id="4" name="Picture 4" descr="histogram">
            <a:extLst>
              <a:ext uri="{FF2B5EF4-FFF2-40B4-BE49-F238E27FC236}">
                <a16:creationId xmlns:a16="http://schemas.microsoft.com/office/drawing/2014/main" id="{AA44DB53-E582-4265-B372-026785F3E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258" y="3429000"/>
            <a:ext cx="3971925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histogram">
            <a:extLst>
              <a:ext uri="{FF2B5EF4-FFF2-40B4-BE49-F238E27FC236}">
                <a16:creationId xmlns:a16="http://schemas.microsoft.com/office/drawing/2014/main" id="{F2A821C7-914F-4C7C-AF69-841683A9B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121" y="3429000"/>
            <a:ext cx="3971925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BFEE42-0BF9-4F8E-8A15-99C27244B29C}"/>
              </a:ext>
            </a:extLst>
          </p:cNvPr>
          <p:cNvSpPr txBox="1"/>
          <p:nvPr/>
        </p:nvSpPr>
        <p:spPr>
          <a:xfrm>
            <a:off x="3039035" y="5606534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PDF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C3A450-7915-4679-BE75-5CFA4270C16C}"/>
              </a:ext>
            </a:extLst>
          </p:cNvPr>
          <p:cNvSpPr txBox="1"/>
          <p:nvPr/>
        </p:nvSpPr>
        <p:spPr>
          <a:xfrm>
            <a:off x="7763436" y="5606534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CDF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A69EB6-E52B-4D08-AAD5-D77C87E35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807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539A4-0604-42F9-BCEB-B38C9D6DC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Histogram Equalization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D7BF0-A79E-4D1A-A3FC-9C6C0124A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513" y="1190422"/>
            <a:ext cx="10515600" cy="532339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Histogram equalization is used to enhance contrast.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36C2D4-B412-4A13-9620-683B35F4F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157" y="4164493"/>
            <a:ext cx="2975813" cy="1831072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39049236-E1E7-4CA3-96C5-2ACE9B9B3D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123" y="4203987"/>
            <a:ext cx="2870583" cy="1878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AC0AAD-74B3-406E-AE03-67D897AAF14A}"/>
              </a:ext>
            </a:extLst>
          </p:cNvPr>
          <p:cNvSpPr txBox="1"/>
          <p:nvPr/>
        </p:nvSpPr>
        <p:spPr>
          <a:xfrm>
            <a:off x="1035269" y="6033014"/>
            <a:ext cx="17510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Equalized Image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ABD9E8-FBA9-4F71-95AB-9BE33582D4A0}"/>
              </a:ext>
            </a:extLst>
          </p:cNvPr>
          <p:cNvSpPr txBox="1"/>
          <p:nvPr/>
        </p:nvSpPr>
        <p:spPr>
          <a:xfrm>
            <a:off x="3137750" y="5995890"/>
            <a:ext cx="35723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Histogram of the Equalized Image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3A3B13-744D-44E8-B1D5-97AE8930A0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8896" y="1821015"/>
            <a:ext cx="2705154" cy="1679470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964C7892-5563-483B-A81F-E60F204CF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75" y="1821015"/>
            <a:ext cx="2633106" cy="172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9E21ABF-7CA2-4D62-843A-D1778373560B}"/>
              </a:ext>
            </a:extLst>
          </p:cNvPr>
          <p:cNvSpPr txBox="1"/>
          <p:nvPr/>
        </p:nvSpPr>
        <p:spPr>
          <a:xfrm>
            <a:off x="1035269" y="3568552"/>
            <a:ext cx="17082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Input Image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7A8837-C834-465C-9E1B-D17E390DD02E}"/>
              </a:ext>
            </a:extLst>
          </p:cNvPr>
          <p:cNvSpPr txBox="1"/>
          <p:nvPr/>
        </p:nvSpPr>
        <p:spPr>
          <a:xfrm>
            <a:off x="3468896" y="3554964"/>
            <a:ext cx="29868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Histogram of the Input Image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704C175-EC67-4407-A284-ABCA45860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37A218B-C27D-4000-AAA7-F8F5132250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3787" y="4112555"/>
            <a:ext cx="2742669" cy="200137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4720CE5-9DE8-417D-9FAA-F450C93823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1037" y="4112555"/>
            <a:ext cx="2807979" cy="20267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6A90516-7ECC-426C-A7BF-19F89F9132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6456" y="1625257"/>
            <a:ext cx="2965942" cy="213095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7080B66-40F4-49A4-A26C-FF61F74328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7725" y="1806301"/>
            <a:ext cx="2842211" cy="176225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381ABC9-9D7B-47C8-AB01-BBAF36863333}"/>
              </a:ext>
            </a:extLst>
          </p:cNvPr>
          <p:cNvSpPr txBox="1"/>
          <p:nvPr/>
        </p:nvSpPr>
        <p:spPr>
          <a:xfrm>
            <a:off x="6146180" y="3608698"/>
            <a:ext cx="29868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PDF of the Input Image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9C1DEB-74BE-4DFB-A684-75744BF606EE}"/>
              </a:ext>
            </a:extLst>
          </p:cNvPr>
          <p:cNvSpPr txBox="1"/>
          <p:nvPr/>
        </p:nvSpPr>
        <p:spPr>
          <a:xfrm>
            <a:off x="9120494" y="3656058"/>
            <a:ext cx="29868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CDF of the Input Image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D181C0-BC48-4D02-926F-9B2757201BFC}"/>
              </a:ext>
            </a:extLst>
          </p:cNvPr>
          <p:cNvSpPr txBox="1"/>
          <p:nvPr/>
        </p:nvSpPr>
        <p:spPr>
          <a:xfrm>
            <a:off x="6061313" y="6068581"/>
            <a:ext cx="35723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PDF of the Equalized Image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4819BC-5364-4DEF-B489-93FB7527FEE7}"/>
              </a:ext>
            </a:extLst>
          </p:cNvPr>
          <p:cNvSpPr txBox="1"/>
          <p:nvPr/>
        </p:nvSpPr>
        <p:spPr>
          <a:xfrm>
            <a:off x="8964895" y="6112768"/>
            <a:ext cx="35723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CDF of the Equalized Image</a:t>
            </a:r>
          </a:p>
        </p:txBody>
      </p:sp>
    </p:spTree>
    <p:extLst>
      <p:ext uri="{BB962C8B-B14F-4D97-AF65-F5344CB8AC3E}">
        <p14:creationId xmlns:p14="http://schemas.microsoft.com/office/powerpoint/2010/main" val="4001462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6BA3F-F104-474F-936C-D00E6F58C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Effect of Histogram Processing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B8A76-3058-4701-837D-9FA6A7A44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E2ED00-7150-4DBE-A8A0-A296C79D37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69739" y="1065213"/>
            <a:ext cx="4572001" cy="56562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44A861-60D1-4F40-8ABE-2A61CFB3C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493" y="2294103"/>
            <a:ext cx="5844186" cy="278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061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BCC59-C666-4A19-9DB1-6CA2485D0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Our Goal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34D296D-78C0-4F8A-88B6-C743765F7E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26920"/>
          <a:stretch/>
        </p:blipFill>
        <p:spPr>
          <a:xfrm>
            <a:off x="1087476" y="1274642"/>
            <a:ext cx="6742851" cy="364698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1F100-66AF-4F37-957C-3890B82DF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8" name="Content Placeholder 9">
            <a:extLst>
              <a:ext uri="{FF2B5EF4-FFF2-40B4-BE49-F238E27FC236}">
                <a16:creationId xmlns:a16="http://schemas.microsoft.com/office/drawing/2014/main" id="{0DC52FD8-5E80-45A3-B3DF-F57291759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0556" y="5183253"/>
            <a:ext cx="6073666" cy="1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283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08E89-2D73-42A3-A588-5C15E4E6E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Condition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9615A-47BB-4A91-9206-B9C4D82A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60FF03E-6461-4280-98AD-FB3DDF74C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88737"/>
            <a:ext cx="9841441" cy="2301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201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0F6EA-FF33-4D1E-A810-EB347111B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 The Transformation Function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EC143-F4E8-4740-BF22-3514E6C5B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Content Placeholder 13">
            <a:extLst>
              <a:ext uri="{FF2B5EF4-FFF2-40B4-BE49-F238E27FC236}">
                <a16:creationId xmlns:a16="http://schemas.microsoft.com/office/drawing/2014/main" id="{C11CEAFA-600D-4D05-90F5-37B8F787BF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7552" y="1554246"/>
            <a:ext cx="7116896" cy="4241741"/>
          </a:xfrm>
        </p:spPr>
      </p:pic>
    </p:spTree>
    <p:extLst>
      <p:ext uri="{BB962C8B-B14F-4D97-AF65-F5344CB8AC3E}">
        <p14:creationId xmlns:p14="http://schemas.microsoft.com/office/powerpoint/2010/main" val="2926658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7C469-38BE-4A7E-A902-408328C34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 The Transformation Function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A3A121-68E4-463C-8236-71A61C2BB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9ECCFF1-F4DE-43A5-A4A4-5AB3E5507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98722"/>
            <a:ext cx="7433141" cy="437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176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D46A4-B793-48B1-959E-57AB0A5C8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Histogram Equalization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BB2A11-C576-4970-A746-02E7DE5C60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b="0" i="0" dirty="0">
                    <a:solidFill>
                      <a:srgbClr val="000000"/>
                    </a:solidFill>
                    <a:effectLst/>
                  </a:rPr>
                  <a:t>First calculate the PDF of all the pixels in this image.</a:t>
                </a:r>
                <a:endParaRPr lang="en-US" sz="2400" dirty="0">
                  <a:solidFill>
                    <a:srgbClr val="000000"/>
                  </a:solidFill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d>
                      <m:dPr>
                        <m:ctrlPr>
                          <a:rPr lang="en-US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e>
                    </m:d>
                    <m:r>
                      <a:rPr lang="en-US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num>
                      <m:den>
                        <m:r>
                          <a:rPr lang="en-US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𝑴𝑵</m:t>
                        </m:r>
                      </m:den>
                    </m:f>
                  </m:oMath>
                </a14:m>
                <a:r>
                  <a:rPr lang="en-US" sz="2400" b="1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=0,1,2……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sz="2400" b="0" i="0" dirty="0">
                  <a:solidFill>
                    <a:srgbClr val="000000"/>
                  </a:solidFill>
                  <a:effectLst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solidFill>
                      <a:srgbClr val="000000"/>
                    </a:solidFill>
                  </a:rPr>
                  <a:t>Cal</a:t>
                </a:r>
                <a:r>
                  <a:rPr lang="en-US" sz="2400" b="0" i="0" dirty="0">
                    <a:solidFill>
                      <a:srgbClr val="000000"/>
                    </a:solidFill>
                    <a:effectLst/>
                  </a:rPr>
                  <a:t>culate CDF (cumulative distributive function) of the pixels.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solidFill>
                      <a:srgbClr val="000000"/>
                    </a:solidFill>
                  </a:rPr>
                  <a:t>Multiply CDF of each pixel value with the highest intensity to satisfy the transformation function.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solidFill>
                    <a:srgbClr val="000000"/>
                  </a:solidFill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solidFill>
                    <a:srgbClr val="000000"/>
                  </a:solidFill>
                </a:endParaRPr>
              </a:p>
              <a:p>
                <a:pPr marL="457200" indent="-457200" algn="ctr">
                  <a:buFont typeface="+mj-lt"/>
                  <a:buAutoNum type="arabicPeriod" startAt="2"/>
                </a:pPr>
                <a:endParaRPr lang="en-US" sz="2400" dirty="0">
                  <a:solidFill>
                    <a:srgbClr val="000000"/>
                  </a:solidFill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solidFill>
                      <a:srgbClr val="000000"/>
                    </a:solidFill>
                  </a:rPr>
                  <a:t>The output image is obtained by mapping each pixel in the input image with intensity </a:t>
                </a:r>
                <a:r>
                  <a:rPr lang="en-US" sz="2400" dirty="0" err="1">
                    <a:solidFill>
                      <a:srgbClr val="000000"/>
                    </a:solidFill>
                  </a:rPr>
                  <a:t>r</a:t>
                </a:r>
                <a:r>
                  <a:rPr lang="en-US" sz="2400" baseline="-25000" dirty="0" err="1">
                    <a:solidFill>
                      <a:srgbClr val="000000"/>
                    </a:solidFill>
                  </a:rPr>
                  <a:t>k</a:t>
                </a:r>
                <a:r>
                  <a:rPr lang="en-US" sz="2400" baseline="-25000" dirty="0">
                    <a:solidFill>
                      <a:srgbClr val="000000"/>
                    </a:solidFill>
                  </a:rPr>
                  <a:t> </a:t>
                </a:r>
                <a:r>
                  <a:rPr lang="en-US" sz="2400" dirty="0">
                    <a:solidFill>
                      <a:srgbClr val="000000"/>
                    </a:solidFill>
                  </a:rPr>
                  <a:t>into the corresponding pixel with level </a:t>
                </a:r>
                <a:r>
                  <a:rPr lang="en-US" sz="2400" dirty="0" err="1">
                    <a:solidFill>
                      <a:srgbClr val="000000"/>
                    </a:solidFill>
                  </a:rPr>
                  <a:t>s</a:t>
                </a:r>
                <a:r>
                  <a:rPr lang="en-US" sz="2400" baseline="-25000" dirty="0" err="1">
                    <a:solidFill>
                      <a:srgbClr val="000000"/>
                    </a:solidFill>
                  </a:rPr>
                  <a:t>k</a:t>
                </a:r>
                <a:r>
                  <a:rPr lang="en-US" sz="2400" dirty="0">
                    <a:solidFill>
                      <a:srgbClr val="000000"/>
                    </a:solidFill>
                  </a:rPr>
                  <a:t> in the output image. 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BB2A11-C576-4970-A746-02E7DE5C60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8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635C7-FC5D-4CE6-A00B-CEBEA211D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70301C8-7343-4E66-9700-B71AA8A2AD4E}"/>
                  </a:ext>
                </a:extLst>
              </p:cNvPr>
              <p:cNvSpPr txBox="1"/>
              <p:nvPr/>
            </p:nvSpPr>
            <p:spPr>
              <a:xfrm>
                <a:off x="4139452" y="3592327"/>
                <a:ext cx="4117041" cy="4407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2400" dirty="0"/>
                  <a:t>S</a:t>
                </a:r>
                <a:r>
                  <a:rPr lang="en-US" sz="2400" baseline="-25000" dirty="0" err="1"/>
                  <a:t>k</a:t>
                </a:r>
                <a:r>
                  <a:rPr lang="en-US" sz="2400" baseline="-25000" dirty="0"/>
                  <a:t> </a:t>
                </a:r>
                <a:r>
                  <a:rPr lang="en-US" sz="2400" dirty="0"/>
                  <a:t>=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−1)</m:t>
                    </m:r>
                    <m:nary>
                      <m:naryPr>
                        <m:chr m:val="∑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70301C8-7343-4E66-9700-B71AA8A2AD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452" y="3592327"/>
                <a:ext cx="4117041" cy="440762"/>
              </a:xfrm>
              <a:prstGeom prst="rect">
                <a:avLst/>
              </a:prstGeom>
              <a:blipFill>
                <a:blip r:embed="rId3"/>
                <a:stretch>
                  <a:fillRect l="-4444" t="-13699" b="-31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1D28D9-9D81-4BF9-87AC-A2555D71EB5F}"/>
                  </a:ext>
                </a:extLst>
              </p:cNvPr>
              <p:cNvSpPr txBox="1"/>
              <p:nvPr/>
            </p:nvSpPr>
            <p:spPr>
              <a:xfrm>
                <a:off x="4706298" y="4118253"/>
                <a:ext cx="2983348" cy="7126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sz="2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  <m:r>
                          <a:rPr lang="en-US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𝑴𝑵</m:t>
                        </m:r>
                      </m:den>
                    </m:f>
                  </m:oMath>
                </a14:m>
                <a:r>
                  <a:rPr lang="en-US" sz="2800" b="1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b="1" i="1"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  <m:e>
                        <m:sSub>
                          <m:sSub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e>
                    </m:nary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1D28D9-9D81-4BF9-87AC-A2555D71E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6298" y="4118253"/>
                <a:ext cx="2983348" cy="7126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8080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650058" y="1579652"/>
            <a:ext cx="2825636" cy="21900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S</a:t>
            </a:r>
            <a:r>
              <a:rPr lang="en-US" sz="1600" baseline="-25000" dirty="0">
                <a:solidFill>
                  <a:schemeClr val="tx1"/>
                </a:solidFill>
              </a:rPr>
              <a:t>0</a:t>
            </a:r>
            <a:r>
              <a:rPr lang="en-US" sz="1600" dirty="0">
                <a:solidFill>
                  <a:schemeClr val="tx1"/>
                </a:solidFill>
              </a:rPr>
              <a:t> = 1.33 = 1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S</a:t>
            </a:r>
            <a:r>
              <a:rPr lang="en-US" sz="1600" baseline="-25000" dirty="0">
                <a:solidFill>
                  <a:schemeClr val="tx1"/>
                </a:solidFill>
              </a:rPr>
              <a:t>1</a:t>
            </a:r>
            <a:r>
              <a:rPr lang="en-US" sz="1600" dirty="0">
                <a:solidFill>
                  <a:schemeClr val="tx1"/>
                </a:solidFill>
              </a:rPr>
              <a:t> = 3.08 = 3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S</a:t>
            </a:r>
            <a:r>
              <a:rPr lang="en-US" sz="1600" baseline="-25000" dirty="0">
                <a:solidFill>
                  <a:schemeClr val="tx1"/>
                </a:solidFill>
              </a:rPr>
              <a:t>2</a:t>
            </a:r>
            <a:r>
              <a:rPr lang="en-US" sz="1600" dirty="0">
                <a:solidFill>
                  <a:schemeClr val="tx1"/>
                </a:solidFill>
              </a:rPr>
              <a:t> = 4.55 = 5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S</a:t>
            </a:r>
            <a:r>
              <a:rPr lang="en-US" sz="1600" baseline="-25000" dirty="0">
                <a:solidFill>
                  <a:schemeClr val="tx1"/>
                </a:solidFill>
              </a:rPr>
              <a:t>3</a:t>
            </a:r>
            <a:r>
              <a:rPr lang="en-US" sz="1600" dirty="0">
                <a:solidFill>
                  <a:schemeClr val="tx1"/>
                </a:solidFill>
              </a:rPr>
              <a:t> = 5.67 = 6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S</a:t>
            </a:r>
            <a:r>
              <a:rPr lang="en-US" sz="1600" baseline="-25000" dirty="0">
                <a:solidFill>
                  <a:schemeClr val="tx1"/>
                </a:solidFill>
              </a:rPr>
              <a:t>4</a:t>
            </a:r>
            <a:r>
              <a:rPr lang="en-US" sz="1600" dirty="0">
                <a:solidFill>
                  <a:schemeClr val="tx1"/>
                </a:solidFill>
              </a:rPr>
              <a:t> = 6.23 = 6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S</a:t>
            </a:r>
            <a:r>
              <a:rPr lang="en-US" sz="1600" baseline="-25000" dirty="0">
                <a:solidFill>
                  <a:schemeClr val="tx1"/>
                </a:solidFill>
              </a:rPr>
              <a:t>5</a:t>
            </a:r>
            <a:r>
              <a:rPr lang="en-US" sz="1600" dirty="0">
                <a:solidFill>
                  <a:schemeClr val="tx1"/>
                </a:solidFill>
              </a:rPr>
              <a:t> = 6.65 = 7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S</a:t>
            </a:r>
            <a:r>
              <a:rPr lang="en-US" sz="1600" baseline="-25000" dirty="0">
                <a:solidFill>
                  <a:schemeClr val="tx1"/>
                </a:solidFill>
              </a:rPr>
              <a:t>6</a:t>
            </a:r>
            <a:r>
              <a:rPr lang="en-US" sz="1600" dirty="0">
                <a:solidFill>
                  <a:schemeClr val="tx1"/>
                </a:solidFill>
              </a:rPr>
              <a:t> = 6.86 = 7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S</a:t>
            </a:r>
            <a:r>
              <a:rPr lang="en-US" sz="1600" baseline="-25000" dirty="0">
                <a:solidFill>
                  <a:schemeClr val="tx1"/>
                </a:solidFill>
              </a:rPr>
              <a:t>7</a:t>
            </a:r>
            <a:r>
              <a:rPr lang="en-US" sz="1600" dirty="0">
                <a:solidFill>
                  <a:schemeClr val="tx1"/>
                </a:solidFill>
              </a:rPr>
              <a:t> = 7.00 = 7  </a:t>
            </a:r>
          </a:p>
        </p:txBody>
      </p:sp>
      <p:pic>
        <p:nvPicPr>
          <p:cNvPr id="7" name="Picture 2" descr="https://scontent-frt3-1.xx.fbcdn.net/v/t35.0-12/17902707_1297930643619714_1560206760_o.jpg?oh=40d5743877c5dac24f5180261e21c22a&amp;oe=58ED7D7D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286" r="1067" b="2407"/>
          <a:stretch/>
        </p:blipFill>
        <p:spPr bwMode="auto">
          <a:xfrm>
            <a:off x="2590713" y="1249732"/>
            <a:ext cx="3534176" cy="2470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b="3484"/>
          <a:stretch/>
        </p:blipFill>
        <p:spPr>
          <a:xfrm>
            <a:off x="2355274" y="3964514"/>
            <a:ext cx="6786386" cy="247003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65BF484-C543-4F64-A8D7-4C4A1B099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7093"/>
            <a:ext cx="10515600" cy="647887"/>
          </a:xfrm>
        </p:spPr>
        <p:txBody>
          <a:bodyPr>
            <a:normAutofit fontScale="90000"/>
          </a:bodyPr>
          <a:lstStyle/>
          <a:p>
            <a:r>
              <a:rPr lang="en-US" dirty="0"/>
              <a:t>Map </a:t>
            </a:r>
            <a:r>
              <a:rPr lang="en-US" dirty="0" err="1"/>
              <a:t>s</a:t>
            </a:r>
            <a:r>
              <a:rPr lang="en-US" baseline="-25000" dirty="0" err="1"/>
              <a:t>k</a:t>
            </a:r>
            <a:r>
              <a:rPr lang="en-US" dirty="0"/>
              <a:t> to its </a:t>
            </a:r>
            <a:r>
              <a:rPr lang="en-US" dirty="0" err="1"/>
              <a:t>r</a:t>
            </a:r>
            <a:r>
              <a:rPr lang="en-US" baseline="-25000" dirty="0" err="1"/>
              <a:t>k</a:t>
            </a:r>
            <a:r>
              <a:rPr lang="en-US" dirty="0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F5719-C854-4E1F-A925-A8C11F9F4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13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3E72A84-8E68-4824-9E8C-A6C6445BC547}"/>
              </a:ext>
            </a:extLst>
          </p:cNvPr>
          <p:cNvCxnSpPr>
            <a:cxnSpLocks/>
          </p:cNvCxnSpPr>
          <p:nvPr/>
        </p:nvCxnSpPr>
        <p:spPr>
          <a:xfrm>
            <a:off x="6650058" y="1625838"/>
            <a:ext cx="271806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04E02EF-2AA2-4D55-9279-B5117A19D5AE}"/>
              </a:ext>
            </a:extLst>
          </p:cNvPr>
          <p:cNvSpPr txBox="1"/>
          <p:nvPr/>
        </p:nvSpPr>
        <p:spPr>
          <a:xfrm>
            <a:off x="7834200" y="1210320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s</a:t>
            </a:r>
            <a:r>
              <a:rPr lang="en-US" b="1" baseline="-25000" dirty="0" err="1"/>
              <a:t>k</a:t>
            </a:r>
            <a:endParaRPr lang="en-US" b="1" baseline="-25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15092-5D1F-465B-B4D1-2A415C0B1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74" y="136525"/>
            <a:ext cx="10515600" cy="647887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B392D7-216D-4031-AC0C-9AAB7F154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E21D78D-7FAA-45FC-A0C4-63122E350B3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403"/>
          <a:stretch/>
        </p:blipFill>
        <p:spPr>
          <a:xfrm>
            <a:off x="1891553" y="937066"/>
            <a:ext cx="7067738" cy="249193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4562992-F7B8-4C72-B2AC-9CD285EC0B3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21"/>
          <a:stretch/>
        </p:blipFill>
        <p:spPr>
          <a:xfrm>
            <a:off x="1891553" y="3380943"/>
            <a:ext cx="7067738" cy="334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372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A3AE8-BBEE-493B-B63B-54D3FF3DF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F60989-6BF4-E940-BD98-990E8C04D268}"/>
              </a:ext>
            </a:extLst>
          </p:cNvPr>
          <p:cNvSpPr txBox="1"/>
          <p:nvPr/>
        </p:nvSpPr>
        <p:spPr>
          <a:xfrm>
            <a:off x="381000" y="152400"/>
            <a:ext cx="114300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Work: Histogram Equalization (A1, B1)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8CFF7F4-1A6B-BE8F-3DF7-81E9FC5A2DBA}"/>
              </a:ext>
            </a:extLst>
          </p:cNvPr>
          <p:cNvCxnSpPr/>
          <p:nvPr/>
        </p:nvCxnSpPr>
        <p:spPr>
          <a:xfrm>
            <a:off x="381000" y="914400"/>
            <a:ext cx="11430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2F340B9-7687-20B8-213B-676C75CBB2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209" y="1467892"/>
            <a:ext cx="11009583" cy="53901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32C5B6-120C-2B74-A254-315C2AF1C12B}"/>
              </a:ext>
            </a:extLst>
          </p:cNvPr>
          <p:cNvSpPr txBox="1"/>
          <p:nvPr/>
        </p:nvSpPr>
        <p:spPr>
          <a:xfrm>
            <a:off x="381001" y="921842"/>
            <a:ext cx="1142999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3000" dirty="0"/>
              <a:t>Equalize an RGB image by individually equalizing all channels.</a:t>
            </a:r>
          </a:p>
        </p:txBody>
      </p:sp>
    </p:spTree>
    <p:extLst>
      <p:ext uri="{BB962C8B-B14F-4D97-AF65-F5344CB8AC3E}">
        <p14:creationId xmlns:p14="http://schemas.microsoft.com/office/powerpoint/2010/main" val="758170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7D51F-5A0A-2B34-42D8-F695359B6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03495D-4A61-9514-B877-EC1024ADBEFA}"/>
              </a:ext>
            </a:extLst>
          </p:cNvPr>
          <p:cNvSpPr txBox="1"/>
          <p:nvPr/>
        </p:nvSpPr>
        <p:spPr>
          <a:xfrm>
            <a:off x="381000" y="152400"/>
            <a:ext cx="114300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Work: Histogram Matching (A2, B2)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CD2235B-FEBD-2BBD-0A04-49B802BD9C8B}"/>
              </a:ext>
            </a:extLst>
          </p:cNvPr>
          <p:cNvCxnSpPr/>
          <p:nvPr/>
        </p:nvCxnSpPr>
        <p:spPr>
          <a:xfrm>
            <a:off x="381000" y="914400"/>
            <a:ext cx="11430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8FC90307-5460-C0A8-D9E1-77C07C5AB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23" y="1444730"/>
            <a:ext cx="10894978" cy="5334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BC0CFB-9E6F-F943-C886-20F8A291910C}"/>
              </a:ext>
            </a:extLst>
          </p:cNvPr>
          <p:cNvSpPr txBox="1"/>
          <p:nvPr/>
        </p:nvSpPr>
        <p:spPr>
          <a:xfrm>
            <a:off x="1" y="921842"/>
            <a:ext cx="1219199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3000" dirty="0"/>
              <a:t>Equalize an RGB image by equalizing only the L channel in Lab color space.</a:t>
            </a:r>
          </a:p>
        </p:txBody>
      </p:sp>
    </p:spTree>
    <p:extLst>
      <p:ext uri="{BB962C8B-B14F-4D97-AF65-F5344CB8AC3E}">
        <p14:creationId xmlns:p14="http://schemas.microsoft.com/office/powerpoint/2010/main" val="4044145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B602B-7643-4DC4-AC24-0C8CD7F25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7091" y="2871974"/>
            <a:ext cx="3157818" cy="884238"/>
          </a:xfrm>
        </p:spPr>
        <p:txBody>
          <a:bodyPr>
            <a:normAutofit/>
          </a:bodyPr>
          <a:lstStyle/>
          <a:p>
            <a:r>
              <a:rPr lang="en-US" sz="4800" dirty="0"/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F1081-68A6-4236-AEF4-16EB54BC5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69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1117</TotalTime>
  <Words>512</Words>
  <Application>Microsoft Office PowerPoint</Application>
  <PresentationFormat>Widescreen</PresentationFormat>
  <Paragraphs>84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Google Sans</vt:lpstr>
      <vt:lpstr>Times New Roman</vt:lpstr>
      <vt:lpstr>Office Theme</vt:lpstr>
      <vt:lpstr>PowerPoint Presentation</vt:lpstr>
      <vt:lpstr>Histogram</vt:lpstr>
      <vt:lpstr>Histogram Processing</vt:lpstr>
      <vt:lpstr>PDF</vt:lpstr>
      <vt:lpstr>CDF</vt:lpstr>
      <vt:lpstr>Histogram Equalization</vt:lpstr>
      <vt:lpstr>Effect of Histogram Processing</vt:lpstr>
      <vt:lpstr>Our Goal</vt:lpstr>
      <vt:lpstr>The Condition</vt:lpstr>
      <vt:lpstr>Find The Transformation Function</vt:lpstr>
      <vt:lpstr>Find The Transformation Function</vt:lpstr>
      <vt:lpstr>Histogram Equalization</vt:lpstr>
      <vt:lpstr>Map sk to its rk </vt:lpstr>
      <vt:lpstr>Class work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4128 Lab 1</dc:title>
  <dc:creator>Sunanda_Das</dc:creator>
  <cp:lastModifiedBy>Md. Mubtashim Abrar Nihal</cp:lastModifiedBy>
  <cp:revision>113</cp:revision>
  <dcterms:created xsi:type="dcterms:W3CDTF">2022-03-22T12:35:29Z</dcterms:created>
  <dcterms:modified xsi:type="dcterms:W3CDTF">2026-07-31T16:42:03Z</dcterms:modified>
</cp:coreProperties>
</file>