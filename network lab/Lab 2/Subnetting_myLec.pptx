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6858000" cx="9144000"/>
  <p:notesSz cx="6858000" cy="9144000"/>
  <p:embeddedFontLst>
    <p:embeddedFont>
      <p:font typeface="Arial Black"/>
      <p:regular r:id="rId38"/>
    </p:embeddedFont>
    <p:embeddedFont>
      <p:font typeface="Century Gothic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hleVxIqf21BaAPZz5Wp9K02Hzs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8B0B26-2E8F-4364-AA52-5F7C7A695B4A}">
  <a:tblStyle styleId="{268B0B26-2E8F-4364-AA52-5F7C7A695B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bold.fntdata"/><Relationship Id="rId20" Type="http://schemas.openxmlformats.org/officeDocument/2006/relationships/slide" Target="slides/slide13.xml"/><Relationship Id="rId42" Type="http://schemas.openxmlformats.org/officeDocument/2006/relationships/font" Target="fonts/CenturyGothic-boldItalic.fntdata"/><Relationship Id="rId41" Type="http://schemas.openxmlformats.org/officeDocument/2006/relationships/font" Target="fonts/CenturyGothic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CenturyGothic-regular.fntdata"/><Relationship Id="rId16" Type="http://schemas.openxmlformats.org/officeDocument/2006/relationships/slide" Target="slides/slide9.xml"/><Relationship Id="rId38" Type="http://schemas.openxmlformats.org/officeDocument/2006/relationships/font" Target="fonts/ArialBlack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"/>
            <a:headEnd len="sm" w="sm" type="none"/>
            <a:tailEnd len="sm" w="sm" type="none"/>
          </a:ln>
        </p:spPr>
      </p:sp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8.1 – Subnetting an IPv4 Network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8.1.4 – Subnetting to Meet Requirements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2"/>
          <p:cNvSpPr txBox="1"/>
          <p:nvPr>
            <p:ph type="ctrTitle"/>
          </p:nvPr>
        </p:nvSpPr>
        <p:spPr>
          <a:xfrm>
            <a:off x="685800" y="857250"/>
            <a:ext cx="7772400" cy="22669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i="1"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" type="subTitle"/>
          </p:nvPr>
        </p:nvSpPr>
        <p:spPr>
          <a:xfrm>
            <a:off x="1752600" y="3567113"/>
            <a:ext cx="5410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SzPts val="2100"/>
              <a:buFont typeface="Noto Sans Symbols"/>
              <a:buNone/>
              <a:defRPr sz="3000"/>
            </a:lvl1pPr>
            <a:lvl2pPr lvl="1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1" type="ftr"/>
          </p:nvPr>
        </p:nvSpPr>
        <p:spPr>
          <a:xfrm>
            <a:off x="3352800" y="63912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2" type="sldNum"/>
          </p:nvPr>
        </p:nvSpPr>
        <p:spPr>
          <a:xfrm>
            <a:off x="6858000" y="6391275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400050" lvl="1" marL="914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5pPr>
            <a:lvl6pPr indent="-400050" lvl="5" marL="27432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6pPr>
            <a:lvl7pPr indent="-400050" lvl="6" marL="3200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7pPr>
            <a:lvl8pPr indent="-400050" lvl="7" marL="3657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8pPr>
            <a:lvl9pPr indent="-400050" lvl="8" marL="4114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5"/>
          <p:cNvSpPr txBox="1"/>
          <p:nvPr>
            <p:ph type="title"/>
          </p:nvPr>
        </p:nvSpPr>
        <p:spPr>
          <a:xfrm rot="5400000">
            <a:off x="4940300" y="2133600"/>
            <a:ext cx="6019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" type="body"/>
          </p:nvPr>
        </p:nvSpPr>
        <p:spPr>
          <a:xfrm rot="5400000">
            <a:off x="444500" y="0"/>
            <a:ext cx="60198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400050" lvl="1" marL="914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5pPr>
            <a:lvl6pPr indent="-400050" lvl="5" marL="27432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6pPr>
            <a:lvl7pPr indent="-400050" lvl="6" marL="3200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7pPr>
            <a:lvl8pPr indent="-400050" lvl="7" marL="3657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8pPr>
            <a:lvl9pPr indent="-400050" lvl="8" marL="4114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9pPr>
          </a:lstStyle>
          <a:p/>
        </p:txBody>
      </p:sp>
      <p:sp>
        <p:nvSpPr>
          <p:cNvPr id="41" name="Google Shape;41;p35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6"/>
          <p:cNvSpPr txBox="1"/>
          <p:nvPr>
            <p:ph idx="1" type="body"/>
          </p:nvPr>
        </p:nvSpPr>
        <p:spPr>
          <a:xfrm rot="5400000">
            <a:off x="2019300" y="-647700"/>
            <a:ext cx="5105400" cy="86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indent="-400050" lvl="1" marL="914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2pPr>
            <a:lvl3pPr indent="-400050" lvl="2" marL="1371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3pPr>
            <a:lvl4pPr indent="-400050" lvl="3" marL="1828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4pPr>
            <a:lvl5pPr indent="-400050" lvl="4" marL="22860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5pPr>
            <a:lvl6pPr indent="-400050" lvl="5" marL="27432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6pPr>
            <a:lvl7pPr indent="-400050" lvl="6" marL="32004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7pPr>
            <a:lvl8pPr indent="-400050" lvl="7" marL="36576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8pPr>
            <a:lvl9pPr indent="-400050" lvl="8" marL="4114800" algn="l">
              <a:spcBef>
                <a:spcPts val="360"/>
              </a:spcBef>
              <a:spcAft>
                <a:spcPts val="0"/>
              </a:spcAft>
              <a:buSzPts val="2700"/>
              <a:buChar char="•"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8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5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9pPr>
          </a:lstStyle>
          <a:p/>
        </p:txBody>
      </p:sp>
      <p:sp>
        <p:nvSpPr>
          <p:cNvPr id="54" name="Google Shape;54;p37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indent="-495300" lvl="1" marL="914400" algn="l">
              <a:spcBef>
                <a:spcPts val="560"/>
              </a:spcBef>
              <a:spcAft>
                <a:spcPts val="0"/>
              </a:spcAft>
              <a:buSzPts val="4200"/>
              <a:buFont typeface="Arial"/>
              <a:buChar char="•"/>
              <a:defRPr sz="2800"/>
            </a:lvl2pPr>
            <a:lvl3pPr indent="-457200" lvl="2" marL="1371600" algn="l">
              <a:spcBef>
                <a:spcPts val="480"/>
              </a:spcBef>
              <a:spcAft>
                <a:spcPts val="0"/>
              </a:spcAft>
              <a:buSzPts val="3600"/>
              <a:buFont typeface="Arial"/>
              <a:buChar char="•"/>
              <a:defRPr sz="2400"/>
            </a:lvl3pPr>
            <a:lvl4pPr indent="-419100" lvl="3" marL="18288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4pPr>
            <a:lvl5pPr indent="-419100" lvl="4" marL="22860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5pPr>
            <a:lvl6pPr indent="-419100" lvl="5" marL="27432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6pPr>
            <a:lvl7pPr indent="-419100" lvl="6" marL="32004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7pPr>
            <a:lvl8pPr indent="-419100" lvl="7" marL="36576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8pPr>
            <a:lvl9pPr indent="-419100" lvl="8" marL="41148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9pPr>
          </a:lstStyle>
          <a:p/>
        </p:txBody>
      </p:sp>
      <p:sp>
        <p:nvSpPr>
          <p:cNvPr id="60" name="Google Shape;60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8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5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1350"/>
              <a:buFont typeface="Arial"/>
              <a:buNone/>
              <a:defRPr sz="900"/>
            </a:lvl9pPr>
          </a:lstStyle>
          <a:p/>
        </p:txBody>
      </p:sp>
      <p:sp>
        <p:nvSpPr>
          <p:cNvPr id="61" name="Google Shape;61;p38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8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9pPr>
          </a:lstStyle>
          <a:p/>
        </p:txBody>
      </p:sp>
      <p:sp>
        <p:nvSpPr>
          <p:cNvPr id="76" name="Google Shape;76;p4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indent="-419100" lvl="1" marL="9144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2pPr>
            <a:lvl3pPr indent="-400050" lvl="2" marL="1371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3pPr>
            <a:lvl4pPr indent="-381000" lvl="3" marL="1828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4pPr>
            <a:lvl5pPr indent="-381000" lvl="4" marL="22860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5pPr>
            <a:lvl6pPr indent="-381000" lvl="5" marL="27432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6pPr>
            <a:lvl7pPr indent="-381000" lvl="6" marL="32004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7pPr>
            <a:lvl8pPr indent="-381000" lvl="7" marL="36576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8pPr>
            <a:lvl9pPr indent="-381000" lvl="8" marL="4114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9pPr>
          </a:lstStyle>
          <a:p/>
        </p:txBody>
      </p:sp>
      <p:sp>
        <p:nvSpPr>
          <p:cNvPr id="77" name="Google Shape;77;p4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b="1" sz="1600"/>
            </a:lvl9pPr>
          </a:lstStyle>
          <a:p/>
        </p:txBody>
      </p:sp>
      <p:sp>
        <p:nvSpPr>
          <p:cNvPr id="78" name="Google Shape;78;p4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indent="-419100" lvl="1" marL="9144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2pPr>
            <a:lvl3pPr indent="-400050" lvl="2" marL="1371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3pPr>
            <a:lvl4pPr indent="-381000" lvl="3" marL="1828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4pPr>
            <a:lvl5pPr indent="-381000" lvl="4" marL="22860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5pPr>
            <a:lvl6pPr indent="-381000" lvl="5" marL="27432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6pPr>
            <a:lvl7pPr indent="-381000" lvl="6" marL="32004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7pPr>
            <a:lvl8pPr indent="-381000" lvl="7" marL="36576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8pPr>
            <a:lvl9pPr indent="-381000" lvl="8" marL="41148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Char char="•"/>
              <a:defRPr sz="1600"/>
            </a:lvl9pPr>
          </a:lstStyle>
          <a:p/>
        </p:txBody>
      </p:sp>
      <p:sp>
        <p:nvSpPr>
          <p:cNvPr id="79" name="Google Shape;79;p41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2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2"/>
          <p:cNvSpPr txBox="1"/>
          <p:nvPr>
            <p:ph idx="1" type="body"/>
          </p:nvPr>
        </p:nvSpPr>
        <p:spPr>
          <a:xfrm>
            <a:off x="228600" y="11430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indent="-457200" lvl="1" marL="914400" algn="l">
              <a:spcBef>
                <a:spcPts val="480"/>
              </a:spcBef>
              <a:spcAft>
                <a:spcPts val="0"/>
              </a:spcAft>
              <a:buSzPts val="3600"/>
              <a:buFont typeface="Arial"/>
              <a:buChar char="•"/>
              <a:defRPr sz="2400"/>
            </a:lvl2pPr>
            <a:lvl3pPr indent="-419100" lvl="2" marL="13716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3pPr>
            <a:lvl4pPr indent="-400050" lvl="3" marL="18288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4pPr>
            <a:lvl5pPr indent="-400050" lvl="4" marL="22860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5pPr>
            <a:lvl6pPr indent="-400050" lvl="5" marL="27432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6pPr>
            <a:lvl7pPr indent="-400050" lvl="6" marL="32004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7pPr>
            <a:lvl8pPr indent="-400050" lvl="7" marL="3657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8pPr>
            <a:lvl9pPr indent="-400050" lvl="8" marL="41148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9pPr>
          </a:lstStyle>
          <a:p/>
        </p:txBody>
      </p:sp>
      <p:sp>
        <p:nvSpPr>
          <p:cNvPr id="85" name="Google Shape;85;p42"/>
          <p:cNvSpPr txBox="1"/>
          <p:nvPr>
            <p:ph idx="2" type="body"/>
          </p:nvPr>
        </p:nvSpPr>
        <p:spPr>
          <a:xfrm>
            <a:off x="4648200" y="1143000"/>
            <a:ext cx="4267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indent="-457200" lvl="1" marL="914400" algn="l">
              <a:spcBef>
                <a:spcPts val="480"/>
              </a:spcBef>
              <a:spcAft>
                <a:spcPts val="0"/>
              </a:spcAft>
              <a:buSzPts val="3600"/>
              <a:buFont typeface="Arial"/>
              <a:buChar char="•"/>
              <a:defRPr sz="2400"/>
            </a:lvl2pPr>
            <a:lvl3pPr indent="-419100" lvl="2" marL="1371600" algn="l">
              <a:spcBef>
                <a:spcPts val="400"/>
              </a:spcBef>
              <a:spcAft>
                <a:spcPts val="0"/>
              </a:spcAft>
              <a:buSzPts val="3000"/>
              <a:buFont typeface="Arial"/>
              <a:buChar char="•"/>
              <a:defRPr sz="2000"/>
            </a:lvl3pPr>
            <a:lvl4pPr indent="-400050" lvl="3" marL="18288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4pPr>
            <a:lvl5pPr indent="-400050" lvl="4" marL="22860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5pPr>
            <a:lvl6pPr indent="-400050" lvl="5" marL="27432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6pPr>
            <a:lvl7pPr indent="-400050" lvl="6" marL="32004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7pPr>
            <a:lvl8pPr indent="-400050" lvl="7" marL="36576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8pPr>
            <a:lvl9pPr indent="-400050" lvl="8" marL="41148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Char char="•"/>
              <a:defRPr sz="1800"/>
            </a:lvl9pPr>
          </a:lstStyle>
          <a:p/>
        </p:txBody>
      </p:sp>
      <p:sp>
        <p:nvSpPr>
          <p:cNvPr id="86" name="Google Shape;86;p42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2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2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27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24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2100"/>
              <a:buFont typeface="Arial"/>
              <a:buNone/>
              <a:defRPr sz="1400"/>
            </a:lvl9pPr>
          </a:lstStyle>
          <a:p/>
        </p:txBody>
      </p:sp>
      <p:sp>
        <p:nvSpPr>
          <p:cNvPr id="92" name="Google Shape;92;p43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3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3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228600" y="381000"/>
            <a:ext cx="8686800" cy="5638800"/>
          </a:xfrm>
          <a:prstGeom prst="roundRect">
            <a:avLst>
              <a:gd fmla="val 1709" name="adj"/>
            </a:avLst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1"/>
          <p:cNvSpPr/>
          <p:nvPr/>
        </p:nvSpPr>
        <p:spPr>
          <a:xfrm>
            <a:off x="327025" y="488950"/>
            <a:ext cx="8435975" cy="4768850"/>
          </a:xfrm>
          <a:prstGeom prst="roundRect">
            <a:avLst>
              <a:gd fmla="val 157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1"/>
          <p:cNvSpPr/>
          <p:nvPr/>
        </p:nvSpPr>
        <p:spPr>
          <a:xfrm>
            <a:off x="1371600" y="3338512"/>
            <a:ext cx="6400800" cy="2286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50800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1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1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8150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9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9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9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9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31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31"/>
          <p:cNvSpPr txBox="1"/>
          <p:nvPr>
            <p:ph idx="11" type="ftr"/>
          </p:nvPr>
        </p:nvSpPr>
        <p:spPr>
          <a:xfrm>
            <a:off x="3352800" y="63912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1"/>
          <p:cNvSpPr txBox="1"/>
          <p:nvPr>
            <p:ph idx="12" type="sldNum"/>
          </p:nvPr>
        </p:nvSpPr>
        <p:spPr>
          <a:xfrm>
            <a:off x="6858000" y="6391275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3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6" name="Google Shape;26;p33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38150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9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9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9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9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3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3"/>
          <p:cNvSpPr txBox="1"/>
          <p:nvPr>
            <p:ph idx="10" type="dt"/>
          </p:nvPr>
        </p:nvSpPr>
        <p:spPr>
          <a:xfrm>
            <a:off x="762000" y="6391275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33"/>
          <p:cNvSpPr txBox="1"/>
          <p:nvPr>
            <p:ph idx="11" type="ftr"/>
          </p:nvPr>
        </p:nvSpPr>
        <p:spPr>
          <a:xfrm>
            <a:off x="3352800" y="64039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33"/>
          <p:cNvSpPr txBox="1"/>
          <p:nvPr>
            <p:ph idx="12" type="sldNum"/>
          </p:nvPr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30" name="Google Shape;30;p33"/>
          <p:cNvSpPr/>
          <p:nvPr/>
        </p:nvSpPr>
        <p:spPr>
          <a:xfrm>
            <a:off x="168275" y="228600"/>
            <a:ext cx="8823325" cy="6096000"/>
          </a:xfrm>
          <a:prstGeom prst="roundRect">
            <a:avLst>
              <a:gd fmla="val 1261" name="adj"/>
            </a:avLst>
          </a:prstGeom>
          <a:noFill/>
          <a:ln cap="flat" cmpd="sng" w="28575">
            <a:solidFill>
              <a:schemeClr val="folHlink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33"/>
          <p:cNvCxnSpPr/>
          <p:nvPr/>
        </p:nvCxnSpPr>
        <p:spPr>
          <a:xfrm>
            <a:off x="203200" y="1066800"/>
            <a:ext cx="8702675" cy="0"/>
          </a:xfrm>
          <a:prstGeom prst="straightConnector1">
            <a:avLst/>
          </a:prstGeom>
          <a:noFill/>
          <a:ln cap="flat" cmpd="sng" w="76200">
            <a:solidFill>
              <a:srgbClr val="B923A4"/>
            </a:solidFill>
            <a:prstDash val="solid"/>
            <a:miter lim="8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>
            <p:ph type="ctrTitle"/>
          </p:nvPr>
        </p:nvSpPr>
        <p:spPr>
          <a:xfrm>
            <a:off x="685800" y="857250"/>
            <a:ext cx="7772400" cy="226695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entury Gothic"/>
              <a:buNone/>
            </a:pPr>
            <a:r>
              <a:rPr b="1" i="1" lang="en-US" sz="40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IPv4 Address</a:t>
            </a:r>
            <a:br>
              <a:rPr b="1" i="1" lang="en-US" sz="40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i="1" lang="en-US" sz="28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</a:t>
            </a:r>
            <a:br>
              <a:rPr b="1" i="1" lang="en-US" sz="40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i="1" lang="en-US" sz="40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Subnetting</a:t>
            </a:r>
            <a:endParaRPr/>
          </a:p>
        </p:txBody>
      </p:sp>
      <p:sp>
        <p:nvSpPr>
          <p:cNvPr id="100" name="Google Shape;100;p1"/>
          <p:cNvSpPr txBox="1"/>
          <p:nvPr>
            <p:ph idx="1" type="subTitle"/>
          </p:nvPr>
        </p:nvSpPr>
        <p:spPr>
          <a:xfrm>
            <a:off x="1752600" y="3567112"/>
            <a:ext cx="5410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Dr. Sk. Md. Masudul ahsan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IPv4 address</a:t>
            </a:r>
            <a:endParaRPr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IPv4 address is 32 bits long number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notation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Dotted-decimal notation</a:t>
            </a:r>
            <a:endParaRPr/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IPv4 addresses are unique and universal.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address space of IPv4 is 2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or 4,294,967,296.</a:t>
            </a:r>
            <a:endParaRPr/>
          </a:p>
          <a:p>
            <a:pPr indent="-21844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625" y="2705100"/>
            <a:ext cx="7650162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Network and Host Portions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portion of the </a:t>
            </a:r>
            <a:r>
              <a:rPr b="1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high-order bits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represents the network address.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of hosts that have identical bit patterns in the network address portion of their addresses. </a:t>
            </a:r>
            <a:endParaRPr/>
          </a:p>
          <a:p>
            <a:pPr indent="-26289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89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89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89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89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89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89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89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bits used in host portion determines the number of hosts that we can have within the network.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125" y="2895600"/>
            <a:ext cx="7650162" cy="14779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3"/>
          <p:cNvGrpSpPr/>
          <p:nvPr/>
        </p:nvGrpSpPr>
        <p:grpSpPr>
          <a:xfrm>
            <a:off x="2936875" y="4127500"/>
            <a:ext cx="1752600" cy="901700"/>
            <a:chOff x="2922896" y="5715000"/>
            <a:chExt cx="1752600" cy="901321"/>
          </a:xfrm>
        </p:grpSpPr>
        <p:sp>
          <p:nvSpPr>
            <p:cNvPr id="119" name="Google Shape;119;p3"/>
            <p:cNvSpPr/>
            <p:nvPr/>
          </p:nvSpPr>
          <p:spPr>
            <a:xfrm rot="5400000">
              <a:off x="3818246" y="5353050"/>
              <a:ext cx="495300" cy="1219200"/>
            </a:xfrm>
            <a:prstGeom prst="rightBrace">
              <a:avLst>
                <a:gd fmla="val 2424" name="adj1"/>
                <a:gd fmla="val 50000" name="adj2"/>
              </a:avLst>
            </a:prstGeom>
            <a:noFill/>
            <a:ln cap="flat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2922896" y="6210300"/>
              <a:ext cx="1524000" cy="406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Arial"/>
                <a:buNone/>
              </a:pPr>
              <a:r>
                <a:rPr b="1" i="0" lang="en-US" sz="24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/>
            </a:p>
          </p:txBody>
        </p:sp>
      </p:grpSp>
      <p:grpSp>
        <p:nvGrpSpPr>
          <p:cNvPr id="121" name="Google Shape;121;p3"/>
          <p:cNvGrpSpPr/>
          <p:nvPr/>
        </p:nvGrpSpPr>
        <p:grpSpPr>
          <a:xfrm>
            <a:off x="4672012" y="4138611"/>
            <a:ext cx="1524000" cy="873126"/>
            <a:chOff x="4658436" y="5726373"/>
            <a:chExt cx="1524000" cy="872889"/>
          </a:xfrm>
        </p:grpSpPr>
        <p:sp>
          <p:nvSpPr>
            <p:cNvPr id="122" name="Google Shape;122;p3"/>
            <p:cNvSpPr/>
            <p:nvPr/>
          </p:nvSpPr>
          <p:spPr>
            <a:xfrm rot="5400000">
              <a:off x="4907866" y="5539643"/>
              <a:ext cx="495300" cy="868759"/>
            </a:xfrm>
            <a:prstGeom prst="rightBrace">
              <a:avLst>
                <a:gd fmla="val 3401" name="adj1"/>
                <a:gd fmla="val 50000" name="adj2"/>
              </a:avLst>
            </a:prstGeom>
            <a:noFill/>
            <a:ln cap="flat" cmpd="sng" w="38100">
              <a:solidFill>
                <a:srgbClr val="3333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4658436" y="6193240"/>
              <a:ext cx="1524000" cy="406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FF"/>
                </a:buClr>
                <a:buSzPts val="2400"/>
                <a:buFont typeface="Arial"/>
                <a:buNone/>
              </a:pPr>
              <a:r>
                <a:rPr b="1" i="0" lang="en-US" sz="2400" u="none">
                  <a:solidFill>
                    <a:srgbClr val="3333FF"/>
                  </a:solidFill>
                  <a:latin typeface="Arial"/>
                  <a:ea typeface="Arial"/>
                  <a:cs typeface="Arial"/>
                  <a:sym typeface="Arial"/>
                </a:rPr>
                <a:t>Host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Types</a:t>
            </a:r>
            <a:endParaRPr/>
          </a:p>
        </p:txBody>
      </p:sp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address - The address by which we refer to the network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the host bits are set to </a:t>
            </a:r>
            <a:r>
              <a:rPr b="1" i="0" lang="en-US" sz="24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zero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Cannot be assigned to host devices</a:t>
            </a:r>
            <a:endParaRPr/>
          </a:p>
          <a:p>
            <a:pPr indent="-571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Broadcast address - A special address used to send data to all hosts in the network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the host bits are set to </a:t>
            </a:r>
            <a:r>
              <a:rPr b="1" i="0" lang="en-US" sz="24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Cannot be assigned to host devices</a:t>
            </a:r>
            <a:endParaRPr/>
          </a:p>
          <a:p>
            <a:pPr indent="-95250" lvl="1" marL="74295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addresses - The addresses assigned to the end devices in the network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Any combination of 0/1s except all 0 or all 1s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Classful Addressing</a:t>
            </a:r>
            <a:endParaRPr/>
          </a:p>
        </p:txBody>
      </p:sp>
      <p:sp>
        <p:nvSpPr>
          <p:cNvPr id="137" name="Google Shape;137;p5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address space is divided into five classes: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A, B, C, D, and E.</a:t>
            </a:r>
            <a:endParaRPr/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Yellow color -&gt; network bits</a:t>
            </a:r>
            <a:endParaRPr/>
          </a:p>
          <a:p>
            <a:pPr indent="-23622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39" name="Google Shape;139;p5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140" name="Google Shape;140;p5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141" name="Google Shape;141;p5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"/>
            <a:headEnd len="med" w="med" type="none"/>
            <a:tailEnd len="med" w="med" type="none"/>
          </a:ln>
        </p:spPr>
      </p:cxnSp>
      <p:pic>
        <p:nvPicPr>
          <p:cNvPr id="142" name="Google Shape;1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474912"/>
            <a:ext cx="8226425" cy="2859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Classful Addressing</a:t>
            </a:r>
            <a:endParaRPr/>
          </a:p>
        </p:txBody>
      </p:sp>
      <p:sp>
        <p:nvSpPr>
          <p:cNvPr id="149" name="Google Shape;149;p6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networks and host addresses</a:t>
            </a:r>
            <a:endParaRPr/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–2?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51" name="Google Shape;151;p6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"/>
            <a:headEnd len="med" w="med" type="none"/>
            <a:tailEnd len="med" w="med" type="none"/>
          </a:ln>
        </p:spPr>
      </p:cxnSp>
      <p:graphicFrame>
        <p:nvGraphicFramePr>
          <p:cNvPr id="152" name="Google Shape;152;p6"/>
          <p:cNvGraphicFramePr/>
          <p:nvPr/>
        </p:nvGraphicFramePr>
        <p:xfrm>
          <a:off x="635000" y="2244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{268B0B26-2E8F-4364-AA52-5F7C7A695B4A}</a:tableStyleId>
              </a:tblPr>
              <a:tblGrid>
                <a:gridCol w="1346200"/>
                <a:gridCol w="1981200"/>
                <a:gridCol w="2514600"/>
                <a:gridCol w="21590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Class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 Networks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 host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400"/>
                        <a:buFont typeface="Arial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Application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16,777,216 – 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Unicast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16384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65,536 – 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Unicast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2,097,152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256 – 2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Unicast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268,435,456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Multicast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7E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268,435,456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Reserved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</a:t>
            </a:r>
            <a:endParaRPr/>
          </a:p>
        </p:txBody>
      </p:sp>
      <p:sp>
        <p:nvSpPr>
          <p:cNvPr id="159" name="Google Shape;159;p7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844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228600" y="1143000"/>
            <a:ext cx="8686800" cy="2227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class of each address.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imes New Roman"/>
              <a:buNone/>
            </a:pPr>
            <a:r>
              <a:rPr b="1" i="1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-US" sz="2800" u="sng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0000001 00001011 00001011 11101111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imes New Roman"/>
              <a:buNone/>
            </a:pPr>
            <a:r>
              <a:rPr b="1" i="1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-US" sz="2800" u="sng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110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00001 10000011 00011011 11111111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imes New Roman"/>
              <a:buNone/>
            </a:pPr>
            <a:r>
              <a:rPr b="1" i="1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-US" sz="2800" u="sng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.23.120.8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imes New Roman"/>
              <a:buNone/>
            </a:pPr>
            <a:r>
              <a:rPr b="1" i="1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-US" sz="2800" u="sng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252</a:t>
            </a: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.5.15.111</a:t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152400" y="3657600"/>
            <a:ext cx="8686800" cy="265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imes New Roman"/>
              <a:buNone/>
            </a:pPr>
            <a:r>
              <a:rPr b="1" i="1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first bit is 0. This is a class A address.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imes New Roman"/>
              <a:buNone/>
            </a:pPr>
            <a:r>
              <a:rPr b="1" i="1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first 2 bits are 1; the third bit is 0. This is a class C</a:t>
            </a:r>
            <a:b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address.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imes New Roman"/>
              <a:buNone/>
            </a:pPr>
            <a:r>
              <a:rPr b="1" i="1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first byte is 14; the class is 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imes New Roman"/>
              <a:buNone/>
            </a:pPr>
            <a:r>
              <a:rPr b="1" i="1" lang="en-US" sz="28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</a:t>
            </a:r>
            <a:r>
              <a:rPr b="1" i="1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first byte is 252; the class is 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Classless Addressing</a:t>
            </a:r>
            <a:endParaRPr/>
          </a:p>
        </p:txBody>
      </p:sp>
      <p:sp>
        <p:nvSpPr>
          <p:cNvPr id="169" name="Google Shape;169;p8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b="0" i="0" lang="en-US" sz="28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classful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addressing, a large part of the available 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addresses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were 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wasted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Classful addressing, which is almost </a:t>
            </a:r>
            <a:r>
              <a:rPr b="0" i="0" lang="en-US" sz="2800" u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is replaced with classless addressing.</a:t>
            </a:r>
            <a:endParaRPr/>
          </a:p>
          <a:p>
            <a:pPr indent="-21844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cxnSp>
        <p:nvCxnSpPr>
          <p:cNvPr id="171" name="Google Shape;171;p8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"/>
            <a:headEnd len="med" w="med" type="none"/>
            <a:tailEnd len="med" w="med" type="none"/>
          </a:ln>
        </p:spPr>
      </p:cxnSp>
      <p:graphicFrame>
        <p:nvGraphicFramePr>
          <p:cNvPr id="172" name="Google Shape;172;p8"/>
          <p:cNvGraphicFramePr/>
          <p:nvPr/>
        </p:nvGraphicFramePr>
        <p:xfrm>
          <a:off x="914400" y="3429000"/>
          <a:ext cx="6800850" cy="2189162"/>
        </p:xfrm>
        <a:graphic>
          <a:graphicData uri="http://schemas.openxmlformats.org/presentationml/2006/ole">
            <mc:AlternateContent>
              <mc:Choice Requires="v">
                <p:oleObj r:id="rId4" imgH="2189162" imgW="6800850" progId="Visio.Drawing.6" spid="_x0000_s1">
                  <p:embed/>
                </p:oleObj>
              </mc:Choice>
              <mc:Fallback>
                <p:oleObj r:id="rId5" imgH="2189162" imgW="6800850" progId="Visio.Drawing.6">
                  <p:embed/>
                  <p:pic>
                    <p:nvPicPr>
                      <p:cNvPr id="172" name="Google Shape;172;p8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914400" y="3429000"/>
                        <a:ext cx="6800850" cy="218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Classless Addressing – Subnet Mask</a:t>
            </a:r>
            <a:endParaRPr/>
          </a:p>
        </p:txBody>
      </p:sp>
      <p:sp>
        <p:nvSpPr>
          <p:cNvPr id="178" name="Google Shape;178;p9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the rapid growth of the internet &amp; the ever-increasing demand for new addresses, the standard address class structure has been expanded by borrowing bits from the Host portion to allow for more Networks.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know how many bits represent the network portion and how many bits represent the host portion? </a:t>
            </a:r>
            <a:endParaRPr/>
          </a:p>
          <a:p>
            <a:pPr indent="-952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 this addressing scheme, called </a:t>
            </a:r>
            <a:r>
              <a:rPr b="0" i="0" lang="en-US" sz="240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Subnetting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separating the Network &amp; Host requires a special process called </a:t>
            </a:r>
            <a:r>
              <a:rPr b="0" i="0" lang="en-US" sz="2400" u="none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Subnet Masking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3622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Classless Addressing – Subnet Mask</a:t>
            </a:r>
            <a:endParaRPr/>
          </a:p>
        </p:txBody>
      </p:sp>
      <p:sp>
        <p:nvSpPr>
          <p:cNvPr id="185" name="Google Shape;185;p10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subnet mask consists of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bits, just as the address does,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consecutives 1s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followed by </a:t>
            </a:r>
            <a:r>
              <a:rPr b="1" i="0" lang="en-US" sz="24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consecutives 0s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indicate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network bits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0" lang="en-US" sz="24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host bits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respectively.</a:t>
            </a:r>
            <a:endParaRPr/>
          </a:p>
          <a:p>
            <a:pPr indent="-571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Another entity that is used to specify the network portion in an address is called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prefix length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example, in 172.16.4.0 /24, the /24 is the prefix length - it tells us that the </a:t>
            </a:r>
            <a:r>
              <a:rPr b="1" i="0" lang="en-US" sz="24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first 24 bits (</a:t>
            </a:r>
            <a:r>
              <a:rPr b="1" i="0" lang="en-US" sz="24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left most or most significant 24 bits</a:t>
            </a:r>
            <a:r>
              <a:rPr b="1" i="0" lang="en-US" sz="24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the network address. </a:t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Classless Addressing – Subnet Mask</a:t>
            </a:r>
            <a:endParaRPr/>
          </a:p>
        </p:txBody>
      </p:sp>
      <p:sp>
        <p:nvSpPr>
          <p:cNvPr id="192" name="Google Shape;192;p11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masks for classful addressing</a:t>
            </a:r>
            <a:endParaRPr/>
          </a:p>
          <a:p>
            <a:pPr indent="-23622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IPv4 classless addressing, an address can be defined as </a:t>
            </a:r>
            <a:endParaRPr/>
          </a:p>
          <a:p>
            <a:pPr indent="-342900" lvl="0" marL="3429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2"/>
              </a:buClr>
              <a:buSzPts val="2520"/>
              <a:buFont typeface="Noto Sans Symbols"/>
              <a:buNone/>
            </a:pPr>
            <a:r>
              <a:rPr b="1" i="0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x.y.z.t /</a:t>
            </a:r>
            <a:r>
              <a:rPr b="1" i="1" lang="en-US" sz="3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which x.y.z.t defines one of the addresses and the /</a:t>
            </a: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defines the mask.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any number b/w 0 and 32.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grpSp>
        <p:nvGrpSpPr>
          <p:cNvPr id="194" name="Google Shape;194;p11"/>
          <p:cNvGrpSpPr/>
          <p:nvPr/>
        </p:nvGrpSpPr>
        <p:grpSpPr>
          <a:xfrm>
            <a:off x="427037" y="1752600"/>
            <a:ext cx="8297861" cy="1628774"/>
            <a:chOff x="249" y="1715"/>
            <a:chExt cx="5228" cy="1026"/>
          </a:xfrm>
        </p:grpSpPr>
        <p:sp>
          <p:nvSpPr>
            <p:cNvPr id="195" name="Google Shape;195;p11"/>
            <p:cNvSpPr/>
            <p:nvPr/>
          </p:nvSpPr>
          <p:spPr>
            <a:xfrm>
              <a:off x="249" y="1715"/>
              <a:ext cx="5223" cy="10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6" name="Google Shape;19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9" y="1715"/>
              <a:ext cx="5228" cy="10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Subnetting</a:t>
            </a:r>
            <a:endParaRPr/>
          </a:p>
        </p:txBody>
      </p:sp>
      <p:sp>
        <p:nvSpPr>
          <p:cNvPr id="202" name="Google Shape;202;p12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 evolved for classless addressing to overcome the depletion of address space.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 a large address block into smaller sub-groups.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of flexible net mask.  </a:t>
            </a:r>
            <a:endParaRPr/>
          </a:p>
          <a:p>
            <a:pPr indent="-952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Restriction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addresses in a block must be contiguous.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addresses in a block must be a power of 2.</a:t>
            </a:r>
            <a:endParaRPr/>
          </a:p>
        </p:txBody>
      </p:sp>
      <p:sp>
        <p:nvSpPr>
          <p:cNvPr id="203" name="Google Shape;203;p12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Subnetting - Tips:</a:t>
            </a:r>
            <a:b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/>
          </a:p>
        </p:txBody>
      </p:sp>
      <p:sp>
        <p:nvSpPr>
          <p:cNvPr id="209" name="Google Shape;209;p13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IPv4 addressing, a block of addresses can be defined as x.y.z.t /n, in which x.y.z.t defines one of the addresses and the /n defines the mask.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first address in the block can be found by setting the rightmost 32 − n bits to 0s.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last address in the block can be found by setting the rightmost 32 − n bits to 1s.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addresses in the block can be found by using the formula </a:t>
            </a:r>
            <a:b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32−n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3622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fld id="{00000000-1234-1234-1234-123412341234}" type="slidenum"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Subnetting to Meet Requirements</a:t>
            </a:r>
            <a:endParaRPr/>
          </a:p>
        </p:txBody>
      </p:sp>
      <p:sp>
        <p:nvSpPr>
          <p:cNvPr id="217" name="Google Shape;217;p14"/>
          <p:cNvSpPr txBox="1"/>
          <p:nvPr>
            <p:ph idx="1" type="body"/>
          </p:nvPr>
        </p:nvSpPr>
        <p:spPr>
          <a:xfrm>
            <a:off x="212725" y="1231900"/>
            <a:ext cx="8753475" cy="5094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Subnetting Based on Host Requirements</a:t>
            </a:r>
            <a:endParaRPr/>
          </a:p>
          <a:p>
            <a:pPr indent="-285750" lvl="1" marL="5715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host addresses required for each network.</a:t>
            </a:r>
            <a:endParaRPr/>
          </a:p>
          <a:p>
            <a:pPr indent="-114300" lvl="1" marL="5715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Subnetting Based on Network Requirements</a:t>
            </a:r>
            <a:endParaRPr/>
          </a:p>
          <a:p>
            <a:pPr indent="-285750" lvl="1" marL="5715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individual subnets needed.</a:t>
            </a:r>
            <a:endParaRPr/>
          </a:p>
          <a:p>
            <a:pPr indent="-285750" lvl="1" marL="5715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Administrators may be asked to subnet an IP range to accommodate a specific number of networks.</a:t>
            </a:r>
            <a:endParaRPr/>
          </a:p>
          <a:p>
            <a:pPr indent="-285750" lvl="1" marL="5715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Think of a company with 7 departments where each department must have its own subnetwork.</a:t>
            </a:r>
            <a:endParaRPr/>
          </a:p>
          <a:p>
            <a:pPr indent="-285750" lvl="1" marL="5715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number of hosts per subnet, while secondary, is also important.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Requirement Example</a:t>
            </a:r>
            <a:endParaRPr/>
          </a:p>
          <a:p>
            <a:pPr indent="-285750" lvl="1" marL="5715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the range 200.42.98.0/24 was given to the administrator.</a:t>
            </a:r>
            <a:endParaRPr/>
          </a:p>
          <a:p>
            <a:pPr indent="-285750" lvl="1" marL="5715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subnets must be created.</a:t>
            </a:r>
            <a:endParaRPr/>
          </a:p>
          <a:p>
            <a:pPr indent="-285750" lvl="1" marL="5715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department will have no more than 29 hosts.</a:t>
            </a:r>
            <a:endParaRPr/>
          </a:p>
          <a:p>
            <a:pPr indent="-285750" lvl="1" marL="5715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subnet mask of /27 applied to 200.42.98.0/24, creates 8 networks with 30 hosts in each network.</a:t>
            </a:r>
            <a:endParaRPr/>
          </a:p>
          <a:p>
            <a:pPr indent="-133350" lvl="1" marL="5715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78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1780" lvl="0" marL="3429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Problem - 01</a:t>
            </a:r>
            <a:endParaRPr/>
          </a:p>
        </p:txBody>
      </p:sp>
      <p:sp>
        <p:nvSpPr>
          <p:cNvPr id="223" name="Google Shape;223;p15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you are assigned an address block, with network address: 140.269.8.0 /22</a:t>
            </a:r>
            <a:endParaRPr/>
          </a:p>
          <a:p>
            <a:pPr indent="-533400" lvl="1" marL="933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you need 5 subnetworks, subnet the network to meet your demand with - Host IP loss should be as minimum as possible</a:t>
            </a:r>
            <a:endParaRPr/>
          </a:p>
          <a:p>
            <a:pPr indent="-533400" lvl="1" marL="933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subnets created?</a:t>
            </a:r>
            <a:endParaRPr/>
          </a:p>
          <a:p>
            <a:pPr indent="-533400" lvl="1" marL="933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host addresses/subnet?</a:t>
            </a:r>
            <a:endParaRPr/>
          </a:p>
          <a:p>
            <a:pPr indent="-533400" lvl="1" marL="933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subnet #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Find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Address of the subnet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First, Last host address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Broadcast address</a:t>
            </a:r>
            <a:endParaRPr/>
          </a:p>
          <a:p>
            <a:pPr indent="-533400" lvl="1" marL="9334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Host IP address losses due to subnetting?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Problem - 02</a:t>
            </a:r>
            <a:endParaRPr/>
          </a:p>
        </p:txBody>
      </p:sp>
      <p:sp>
        <p:nvSpPr>
          <p:cNvPr id="229" name="Google Shape;229;p16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an ISP is assigned an address block, and consider one of the address from that block is 20.69.11.0 /22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some subnets (no. doesn’t matter) – but each subnet should have at least 15 hosts support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 the network to meet your goal ( Host IP loss should be as minimum as possible)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subnets?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subnet #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Find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Address of the subnet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First, Last host address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Broadcast address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Unnecessary Host address in the subnet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Host address losses for subnetting?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235" name="Google Shape;235;p17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Address: 20.69.11.0      =      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69</a:t>
            </a:r>
            <a:r>
              <a:rPr b="0" i="0" lang="en-US" sz="24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.00001011</a:t>
            </a:r>
            <a:r>
              <a:rPr b="0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Mask  : 255.255.252.0 =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255.255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4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11111100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Network : 20.69.8.0     =       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69</a:t>
            </a:r>
            <a:r>
              <a:rPr b="0" i="0" lang="en-US" sz="24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.00001000</a:t>
            </a:r>
            <a:r>
              <a:rPr b="0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400" u="none">
              <a:solidFill>
                <a:srgbClr val="D10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 Bits in given Address = 12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15 Hosts / subnet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Host Bits = 5 ( why?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16, 2</a:t>
            </a:r>
            <a:r>
              <a:rPr b="0" baseline="3000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32 )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remain for subnetting = 32 – 22 – 5 = 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Total subnets =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 Bits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32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17"/>
          <p:cNvCxnSpPr/>
          <p:nvPr/>
        </p:nvCxnSpPr>
        <p:spPr>
          <a:xfrm>
            <a:off x="990600" y="2057400"/>
            <a:ext cx="746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242" name="Google Shape;242;p18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20.69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000010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r>
              <a:rPr b="1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r>
              <a:rPr b="0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00000        </a:t>
            </a:r>
            <a:r>
              <a:rPr b="0" i="0" lang="en-US" sz="2800" u="none">
                <a:solidFill>
                  <a:srgbClr val="254645"/>
                </a:solidFill>
                <a:latin typeface="Arial"/>
                <a:ea typeface="Arial"/>
                <a:cs typeface="Arial"/>
                <a:sym typeface="Arial"/>
              </a:rPr>
              <a:t>(20.69.8.0)</a:t>
            </a:r>
            <a:endParaRPr/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for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8  4  2   1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0 1 0 ( 4 bits only)</a:t>
            </a:r>
            <a:endParaRPr/>
          </a:p>
          <a:p>
            <a:pPr indent="-23622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18"/>
          <p:cNvCxnSpPr/>
          <p:nvPr/>
        </p:nvCxnSpPr>
        <p:spPr>
          <a:xfrm>
            <a:off x="719137" y="1600200"/>
            <a:ext cx="217646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244" name="Google Shape;244;p18"/>
          <p:cNvCxnSpPr/>
          <p:nvPr/>
        </p:nvCxnSpPr>
        <p:spPr>
          <a:xfrm>
            <a:off x="4191000" y="1600200"/>
            <a:ext cx="990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245" name="Google Shape;245;p18"/>
          <p:cNvCxnSpPr/>
          <p:nvPr/>
        </p:nvCxnSpPr>
        <p:spPr>
          <a:xfrm>
            <a:off x="3021012" y="1600200"/>
            <a:ext cx="1066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sp>
        <p:nvSpPr>
          <p:cNvPr id="246" name="Google Shape;246;p18"/>
          <p:cNvSpPr/>
          <p:nvPr/>
        </p:nvSpPr>
        <p:spPr>
          <a:xfrm>
            <a:off x="4586287" y="1600200"/>
            <a:ext cx="1204912" cy="457200"/>
          </a:xfrm>
          <a:custGeom>
            <a:rect b="b" l="l" r="r" t="t"/>
            <a:pathLst>
              <a:path extrusionOk="0" h="288" w="768">
                <a:moveTo>
                  <a:pt x="0" y="0"/>
                </a:moveTo>
                <a:lnTo>
                  <a:pt x="0" y="288"/>
                </a:lnTo>
                <a:lnTo>
                  <a:pt x="768" y="28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5943600" y="18288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Bits</a:t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1219200" y="1600200"/>
            <a:ext cx="4648200" cy="1143000"/>
          </a:xfrm>
          <a:custGeom>
            <a:rect b="b" l="l" r="r" t="t"/>
            <a:pathLst>
              <a:path extrusionOk="0" h="288" w="768">
                <a:moveTo>
                  <a:pt x="0" y="0"/>
                </a:moveTo>
                <a:lnTo>
                  <a:pt x="0" y="288"/>
                </a:lnTo>
                <a:lnTo>
                  <a:pt x="768" y="288"/>
                </a:lnTo>
              </a:path>
            </a:pathLst>
          </a:custGeom>
          <a:noFill/>
          <a:ln cap="flat" cmpd="sng" w="19050">
            <a:solidFill>
              <a:srgbClr val="D10B3A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5943600" y="2438400"/>
            <a:ext cx="27432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Net Bits. It will be fixed</a:t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3386137" y="1600200"/>
            <a:ext cx="2481262" cy="2362200"/>
          </a:xfrm>
          <a:custGeom>
            <a:rect b="b" l="l" r="r" t="t"/>
            <a:pathLst>
              <a:path extrusionOk="0" h="288" w="768">
                <a:moveTo>
                  <a:pt x="0" y="0"/>
                </a:moveTo>
                <a:lnTo>
                  <a:pt x="0" y="288"/>
                </a:lnTo>
                <a:lnTo>
                  <a:pt x="768" y="288"/>
                </a:lnTo>
              </a:path>
            </a:pathLst>
          </a:custGeom>
          <a:noFill/>
          <a:ln cap="flat" cmpd="sng" w="19050">
            <a:solidFill>
              <a:srgbClr val="3333FF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5867400" y="36576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for Subnetting</a:t>
            </a:r>
            <a:endParaRPr/>
          </a:p>
        </p:txBody>
      </p:sp>
      <p:cxnSp>
        <p:nvCxnSpPr>
          <p:cNvPr id="252" name="Google Shape;252;p18"/>
          <p:cNvCxnSpPr/>
          <p:nvPr/>
        </p:nvCxnSpPr>
        <p:spPr>
          <a:xfrm rot="10800000">
            <a:off x="5257800" y="1447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258" name="Google Shape;258;p19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5242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Subnet Bits, and Host Bits just as place holder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20 .69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000010</a:t>
            </a:r>
            <a:r>
              <a:rPr b="1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_ _ . _ _ _  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_ _</a:t>
            </a:r>
            <a:r>
              <a:rPr b="1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_ _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places for subnet bits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the binary of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only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additional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before the binary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place it in the place holder of Subnet bits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20.69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00001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_ _ _ _ _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Network Bits ( Total 27 bits)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20.69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00001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_ _ _ _  _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264" name="Google Shape;264;p20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for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place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host bits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20.69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00001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 .  69 . 9 .  64  / </a:t>
            </a:r>
            <a:r>
              <a:rPr b="1" i="0" lang="en-US" sz="2800" u="none">
                <a:solidFill>
                  <a:srgbClr val="B923A4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Broadcast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address place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host bits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20.69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00001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1" i="0" sz="2800" u="sng">
              <a:solidFill>
                <a:srgbClr val="06F6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20 .  69 . </a:t>
            </a:r>
            <a:r>
              <a:rPr b="1" i="0" lang="en-US" sz="2800" u="none">
                <a:solidFill>
                  <a:srgbClr val="B923A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 </a:t>
            </a:r>
            <a:r>
              <a:rPr b="1" i="0" lang="en-US" sz="2800" u="none">
                <a:solidFill>
                  <a:srgbClr val="B923A4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Broadcast Address</a:t>
            </a:r>
            <a:endParaRPr/>
          </a:p>
          <a:p>
            <a:pPr indent="-218440" lvl="0" marL="342900" rtl="0" algn="l"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5" name="Google Shape;265;p20"/>
          <p:cNvGrpSpPr/>
          <p:nvPr/>
        </p:nvGrpSpPr>
        <p:grpSpPr>
          <a:xfrm>
            <a:off x="914400" y="2209800"/>
            <a:ext cx="5137150" cy="609600"/>
            <a:chOff x="576" y="1392"/>
            <a:chExt cx="3236" cy="384"/>
          </a:xfrm>
        </p:grpSpPr>
        <p:cxnSp>
          <p:nvCxnSpPr>
            <p:cNvPr id="266" name="Google Shape;266;p20"/>
            <p:cNvCxnSpPr/>
            <p:nvPr/>
          </p:nvCxnSpPr>
          <p:spPr>
            <a:xfrm>
              <a:off x="1296" y="1410"/>
              <a:ext cx="94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67" name="Google Shape;267;p20"/>
            <p:cNvCxnSpPr/>
            <p:nvPr/>
          </p:nvCxnSpPr>
          <p:spPr>
            <a:xfrm>
              <a:off x="2430" y="1410"/>
              <a:ext cx="138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68" name="Google Shape;268;p20"/>
            <p:cNvCxnSpPr/>
            <p:nvPr/>
          </p:nvCxnSpPr>
          <p:spPr>
            <a:xfrm>
              <a:off x="912" y="1410"/>
              <a:ext cx="240" cy="3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  <p:cxnSp>
          <p:nvCxnSpPr>
            <p:cNvPr id="269" name="Google Shape;269;p20"/>
            <p:cNvCxnSpPr/>
            <p:nvPr/>
          </p:nvCxnSpPr>
          <p:spPr>
            <a:xfrm flipH="1">
              <a:off x="1584" y="1508"/>
              <a:ext cx="384" cy="2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  <p:cxnSp>
          <p:nvCxnSpPr>
            <p:cNvPr id="270" name="Google Shape;270;p20"/>
            <p:cNvCxnSpPr/>
            <p:nvPr/>
          </p:nvCxnSpPr>
          <p:spPr>
            <a:xfrm>
              <a:off x="576" y="1392"/>
              <a:ext cx="48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</p:grpSp>
      <p:cxnSp>
        <p:nvCxnSpPr>
          <p:cNvPr id="271" name="Google Shape;271;p20"/>
          <p:cNvCxnSpPr/>
          <p:nvPr/>
        </p:nvCxnSpPr>
        <p:spPr>
          <a:xfrm flipH="1">
            <a:off x="3200400" y="2300287"/>
            <a:ext cx="1905000" cy="5191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triangle"/>
          </a:ln>
        </p:spPr>
      </p:cxnSp>
      <p:grpSp>
        <p:nvGrpSpPr>
          <p:cNvPr id="272" name="Google Shape;272;p20"/>
          <p:cNvGrpSpPr/>
          <p:nvPr/>
        </p:nvGrpSpPr>
        <p:grpSpPr>
          <a:xfrm>
            <a:off x="900112" y="4329112"/>
            <a:ext cx="5137150" cy="623887"/>
            <a:chOff x="576" y="1392"/>
            <a:chExt cx="3236" cy="393"/>
          </a:xfrm>
        </p:grpSpPr>
        <p:cxnSp>
          <p:nvCxnSpPr>
            <p:cNvPr id="273" name="Google Shape;273;p20"/>
            <p:cNvCxnSpPr/>
            <p:nvPr/>
          </p:nvCxnSpPr>
          <p:spPr>
            <a:xfrm>
              <a:off x="1272" y="1410"/>
              <a:ext cx="96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74" name="Google Shape;274;p20"/>
            <p:cNvCxnSpPr/>
            <p:nvPr/>
          </p:nvCxnSpPr>
          <p:spPr>
            <a:xfrm>
              <a:off x="2430" y="1410"/>
              <a:ext cx="138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275" name="Google Shape;275;p20"/>
            <p:cNvCxnSpPr/>
            <p:nvPr/>
          </p:nvCxnSpPr>
          <p:spPr>
            <a:xfrm>
              <a:off x="921" y="1449"/>
              <a:ext cx="111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  <p:cxnSp>
          <p:nvCxnSpPr>
            <p:cNvPr id="276" name="Google Shape;276;p20"/>
            <p:cNvCxnSpPr/>
            <p:nvPr/>
          </p:nvCxnSpPr>
          <p:spPr>
            <a:xfrm flipH="1">
              <a:off x="1516" y="1517"/>
              <a:ext cx="153" cy="26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  <p:cxnSp>
          <p:nvCxnSpPr>
            <p:cNvPr id="277" name="Google Shape;277;p20"/>
            <p:cNvCxnSpPr/>
            <p:nvPr/>
          </p:nvCxnSpPr>
          <p:spPr>
            <a:xfrm>
              <a:off x="576" y="1392"/>
              <a:ext cx="48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</p:grpSp>
      <p:cxnSp>
        <p:nvCxnSpPr>
          <p:cNvPr id="278" name="Google Shape;278;p20"/>
          <p:cNvCxnSpPr/>
          <p:nvPr/>
        </p:nvCxnSpPr>
        <p:spPr>
          <a:xfrm flipH="1">
            <a:off x="3124200" y="4513262"/>
            <a:ext cx="1676400" cy="4397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284" name="Google Shape;284;p21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First Address just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add 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0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address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20 .  69 . 9 .  0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+   1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20 .  69 . 9 .  1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Last Address just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subtract 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0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broadcast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address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20 .  69 . 9 .  95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-    1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20 .  69 . 9 .  94</a:t>
            </a:r>
            <a:endParaRPr/>
          </a:p>
          <a:p>
            <a:pPr indent="-218440" lvl="0" marL="342900" rtl="0" algn="l"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21"/>
          <p:cNvCxnSpPr/>
          <p:nvPr/>
        </p:nvCxnSpPr>
        <p:spPr>
          <a:xfrm>
            <a:off x="3200400" y="2667000"/>
            <a:ext cx="289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286" name="Google Shape;286;p21"/>
          <p:cNvCxnSpPr/>
          <p:nvPr/>
        </p:nvCxnSpPr>
        <p:spPr>
          <a:xfrm>
            <a:off x="3124200" y="5181600"/>
            <a:ext cx="289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292" name="Google Shape;292;p22"/>
          <p:cNvSpPr txBox="1"/>
          <p:nvPr>
            <p:ph idx="1" type="body"/>
          </p:nvPr>
        </p:nvSpPr>
        <p:spPr>
          <a:xfrm>
            <a:off x="228600" y="1143000"/>
            <a:ext cx="8915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2.d) Host IP in each subnet = (2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2) = 30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Unnecessary Host IPs = 30 – 15 = 15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Host IP losses for subnetting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Total Host IPs in Original Net =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Bits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2 = 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Host IPs  in subnets = Total subnet X Host IP in each subnet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=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(2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2) = 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Losses = A – B = (2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2) –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(2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2)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=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 x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2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= 62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Problem – 03 (DIY at lab)</a:t>
            </a:r>
            <a:endParaRPr/>
          </a:p>
        </p:txBody>
      </p:sp>
      <p:sp>
        <p:nvSpPr>
          <p:cNvPr id="298" name="Google Shape;298;p23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an ISP is assigned an address block, and consider one of the address from that block is 20.69.0.0 /10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some subnets (no. doesn’t matter) – but each subnet should have at least 3600 hosts support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 the network to meet your goal ( Host IP loss should be as minimum as possible)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subnets?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subnet #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373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Find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Address of the subnet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First, Last host address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Broadcast address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Unnecessary Host address in the subnet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Host address losses for subnetting?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304" name="Google Shape;304;p24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Address: 20.69.0.0      =  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01000101.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0.0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Mask     : 255.192.0.0 =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255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11000000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0.0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Network : 20.64.0.0    =   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01000000.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0.0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 Bits in given Address =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3600 Hosts / subnet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Host Bits =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why?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2048,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4096 )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remain for subnetting = 32 – 10 – 12 =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Total subnets =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 Bits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= 2</a:t>
            </a:r>
            <a:r>
              <a:rPr b="0" baseline="3000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1024</a:t>
            </a:r>
            <a:endParaRPr/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rtl="0" algn="l"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24"/>
          <p:cNvCxnSpPr/>
          <p:nvPr/>
        </p:nvCxnSpPr>
        <p:spPr>
          <a:xfrm>
            <a:off x="990600" y="2146300"/>
            <a:ext cx="7467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311" name="Google Shape;311;p25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000000</a:t>
            </a:r>
            <a:r>
              <a:rPr b="1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0000</a:t>
            </a:r>
            <a:r>
              <a:rPr b="0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0000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00000000        </a:t>
            </a:r>
            <a:r>
              <a:rPr b="0" i="0" lang="en-US" sz="2800" u="none">
                <a:solidFill>
                  <a:srgbClr val="254645"/>
                </a:solidFill>
                <a:latin typeface="Arial"/>
                <a:ea typeface="Arial"/>
                <a:cs typeface="Arial"/>
                <a:sym typeface="Arial"/>
              </a:rPr>
              <a:t>(20.64.0.0)</a:t>
            </a:r>
            <a:endParaRPr/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for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256 128  64  32  16   8  4  2   1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   0  1  1  1  0 1 0 1 ( 9 bits only)</a:t>
            </a:r>
            <a:endParaRPr/>
          </a:p>
          <a:p>
            <a:pPr indent="-23622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25"/>
          <p:cNvCxnSpPr/>
          <p:nvPr/>
        </p:nvCxnSpPr>
        <p:spPr>
          <a:xfrm>
            <a:off x="719137" y="1600200"/>
            <a:ext cx="91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313" name="Google Shape;313;p25"/>
          <p:cNvCxnSpPr/>
          <p:nvPr/>
        </p:nvCxnSpPr>
        <p:spPr>
          <a:xfrm>
            <a:off x="3810000" y="1600200"/>
            <a:ext cx="237648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314" name="Google Shape;314;p25"/>
          <p:cNvCxnSpPr/>
          <p:nvPr/>
        </p:nvCxnSpPr>
        <p:spPr>
          <a:xfrm>
            <a:off x="1724025" y="1600200"/>
            <a:ext cx="191928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sp>
        <p:nvSpPr>
          <p:cNvPr id="315" name="Google Shape;315;p25"/>
          <p:cNvSpPr/>
          <p:nvPr/>
        </p:nvSpPr>
        <p:spPr>
          <a:xfrm>
            <a:off x="4953000" y="1600200"/>
            <a:ext cx="838200" cy="457200"/>
          </a:xfrm>
          <a:custGeom>
            <a:rect b="b" l="l" r="r" t="t"/>
            <a:pathLst>
              <a:path extrusionOk="0" h="288" w="768">
                <a:moveTo>
                  <a:pt x="0" y="0"/>
                </a:moveTo>
                <a:lnTo>
                  <a:pt x="0" y="288"/>
                </a:lnTo>
                <a:lnTo>
                  <a:pt x="768" y="28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5943600" y="18288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Bits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1219200" y="1600200"/>
            <a:ext cx="4648200" cy="1143000"/>
          </a:xfrm>
          <a:custGeom>
            <a:rect b="b" l="l" r="r" t="t"/>
            <a:pathLst>
              <a:path extrusionOk="0" h="288" w="768">
                <a:moveTo>
                  <a:pt x="0" y="0"/>
                </a:moveTo>
                <a:lnTo>
                  <a:pt x="0" y="288"/>
                </a:lnTo>
                <a:lnTo>
                  <a:pt x="768" y="288"/>
                </a:lnTo>
              </a:path>
            </a:pathLst>
          </a:custGeom>
          <a:noFill/>
          <a:ln cap="flat" cmpd="sng" w="19050">
            <a:solidFill>
              <a:srgbClr val="D10B3A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5943600" y="2438400"/>
            <a:ext cx="27432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Net Bits. It will be fixed</a:t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2667000" y="1600200"/>
            <a:ext cx="3200400" cy="2362200"/>
          </a:xfrm>
          <a:custGeom>
            <a:rect b="b" l="l" r="r" t="t"/>
            <a:pathLst>
              <a:path extrusionOk="0" h="288" w="768">
                <a:moveTo>
                  <a:pt x="0" y="0"/>
                </a:moveTo>
                <a:lnTo>
                  <a:pt x="0" y="288"/>
                </a:lnTo>
                <a:lnTo>
                  <a:pt x="768" y="288"/>
                </a:lnTo>
              </a:path>
            </a:pathLst>
          </a:custGeom>
          <a:noFill/>
          <a:ln cap="flat" cmpd="sng" w="19050">
            <a:solidFill>
              <a:srgbClr val="3333FF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5867400" y="36576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Bits for Subnetting</a:t>
            </a:r>
            <a:endParaRPr/>
          </a:p>
        </p:txBody>
      </p:sp>
      <p:cxnSp>
        <p:nvCxnSpPr>
          <p:cNvPr id="321" name="Google Shape;321;p25"/>
          <p:cNvCxnSpPr/>
          <p:nvPr/>
        </p:nvCxnSpPr>
        <p:spPr>
          <a:xfrm rot="10800000">
            <a:off x="6477000" y="13716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327" name="Google Shape;327;p26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 cap="flat" cmpd="sng" w="9525">
            <a:solidFill>
              <a:srgbClr val="3333FF"/>
            </a:solidFill>
            <a:prstDash val="solid"/>
            <a:miter lim="5242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consider Subnet Bits, and Host Bits just as place holder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 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r>
              <a:rPr b="1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_ _ _ _ _ _ . _ _ _ _ 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_ _</a:t>
            </a:r>
            <a:r>
              <a:rPr b="1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_ _ </a:t>
            </a:r>
            <a:r>
              <a:rPr b="1" i="0" lang="en-US" sz="32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_ _ _ _ _ _ _ _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places for subnet bits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the binary of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373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only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additional </a:t>
            </a:r>
            <a:r>
              <a:rPr b="1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before the binary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place it in the place holder of Subnet bits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sng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_ _ _ _ </a:t>
            </a:r>
            <a:r>
              <a:rPr b="1" i="0" lang="en-US" sz="32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_ _ _ _ _ _ _ _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Network Bits ( Total 20 bits)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01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_ _ _ _ </a:t>
            </a:r>
            <a:r>
              <a:rPr b="1" i="0" lang="en-US" sz="32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_ _ _ _ _ _ _ _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333" name="Google Shape;333;p27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for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place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host bits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01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1" i="0" sz="2800" u="sng">
              <a:solidFill>
                <a:srgbClr val="06F6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 .  87 . 80 .  0  / </a:t>
            </a:r>
            <a:r>
              <a:rPr b="1" i="0" lang="en-US" sz="2800" u="none">
                <a:solidFill>
                  <a:srgbClr val="B923A4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Broadcast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address place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host bits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rgbClr val="D10B3A"/>
                </a:solidFill>
                <a:latin typeface="Arial Black"/>
                <a:ea typeface="Arial Black"/>
                <a:cs typeface="Arial Black"/>
                <a:sym typeface="Arial Black"/>
              </a:rPr>
              <a:t>20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01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4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800" u="non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i="0" lang="en-US" sz="2800" u="none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sng">
                <a:solidFill>
                  <a:srgbClr val="06F6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-21844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None/>
            </a:pPr>
            <a:r>
              <a:t/>
            </a:r>
            <a:endParaRPr b="1" i="0" sz="2800" u="sng">
              <a:solidFill>
                <a:srgbClr val="06F6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20 .  87 . </a:t>
            </a:r>
            <a:r>
              <a:rPr b="1" i="0" lang="en-US" sz="2800" u="none">
                <a:solidFill>
                  <a:srgbClr val="B923A4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. </a:t>
            </a:r>
            <a:r>
              <a:rPr b="1" i="0" lang="en-US" sz="2800" u="none">
                <a:solidFill>
                  <a:srgbClr val="B923A4"/>
                </a:solidFill>
                <a:latin typeface="Arial"/>
                <a:ea typeface="Arial"/>
                <a:cs typeface="Arial"/>
                <a:sym typeface="Arial"/>
              </a:rPr>
              <a:t>255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 Address</a:t>
            </a:r>
            <a:endParaRPr/>
          </a:p>
          <a:p>
            <a:pPr indent="-218440" lvl="0" marL="342900" rtl="0" algn="l"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p27"/>
          <p:cNvGrpSpPr/>
          <p:nvPr/>
        </p:nvGrpSpPr>
        <p:grpSpPr>
          <a:xfrm>
            <a:off x="914400" y="2209800"/>
            <a:ext cx="5137150" cy="609600"/>
            <a:chOff x="576" y="1392"/>
            <a:chExt cx="3236" cy="384"/>
          </a:xfrm>
        </p:grpSpPr>
        <p:cxnSp>
          <p:nvCxnSpPr>
            <p:cNvPr id="335" name="Google Shape;335;p27"/>
            <p:cNvCxnSpPr/>
            <p:nvPr/>
          </p:nvCxnSpPr>
          <p:spPr>
            <a:xfrm>
              <a:off x="912" y="1410"/>
              <a:ext cx="132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6" name="Google Shape;336;p27"/>
            <p:cNvCxnSpPr/>
            <p:nvPr/>
          </p:nvCxnSpPr>
          <p:spPr>
            <a:xfrm>
              <a:off x="2430" y="1410"/>
              <a:ext cx="138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37" name="Google Shape;337;p27"/>
            <p:cNvCxnSpPr/>
            <p:nvPr/>
          </p:nvCxnSpPr>
          <p:spPr>
            <a:xfrm flipH="1">
              <a:off x="1152" y="1440"/>
              <a:ext cx="24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  <p:cxnSp>
          <p:nvCxnSpPr>
            <p:cNvPr id="338" name="Google Shape;338;p27"/>
            <p:cNvCxnSpPr/>
            <p:nvPr/>
          </p:nvCxnSpPr>
          <p:spPr>
            <a:xfrm flipH="1">
              <a:off x="1584" y="1440"/>
              <a:ext cx="1392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  <p:cxnSp>
          <p:nvCxnSpPr>
            <p:cNvPr id="339" name="Google Shape;339;p27"/>
            <p:cNvCxnSpPr/>
            <p:nvPr/>
          </p:nvCxnSpPr>
          <p:spPr>
            <a:xfrm>
              <a:off x="576" y="1392"/>
              <a:ext cx="48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</p:grpSp>
      <p:cxnSp>
        <p:nvCxnSpPr>
          <p:cNvPr id="340" name="Google Shape;340;p27"/>
          <p:cNvCxnSpPr/>
          <p:nvPr/>
        </p:nvCxnSpPr>
        <p:spPr>
          <a:xfrm>
            <a:off x="6434137" y="2238375"/>
            <a:ext cx="222091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341" name="Google Shape;341;p27"/>
          <p:cNvCxnSpPr/>
          <p:nvPr/>
        </p:nvCxnSpPr>
        <p:spPr>
          <a:xfrm flipH="1">
            <a:off x="3200400" y="2286000"/>
            <a:ext cx="39624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triangle"/>
          </a:ln>
        </p:spPr>
      </p:cxnSp>
      <p:grpSp>
        <p:nvGrpSpPr>
          <p:cNvPr id="342" name="Google Shape;342;p27"/>
          <p:cNvGrpSpPr/>
          <p:nvPr/>
        </p:nvGrpSpPr>
        <p:grpSpPr>
          <a:xfrm>
            <a:off x="900112" y="4329112"/>
            <a:ext cx="5137150" cy="609600"/>
            <a:chOff x="576" y="1392"/>
            <a:chExt cx="3236" cy="384"/>
          </a:xfrm>
        </p:grpSpPr>
        <p:cxnSp>
          <p:nvCxnSpPr>
            <p:cNvPr id="343" name="Google Shape;343;p27"/>
            <p:cNvCxnSpPr/>
            <p:nvPr/>
          </p:nvCxnSpPr>
          <p:spPr>
            <a:xfrm>
              <a:off x="912" y="1410"/>
              <a:ext cx="1324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44" name="Google Shape;344;p27"/>
            <p:cNvCxnSpPr/>
            <p:nvPr/>
          </p:nvCxnSpPr>
          <p:spPr>
            <a:xfrm>
              <a:off x="2430" y="1410"/>
              <a:ext cx="1382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45" name="Google Shape;345;p27"/>
            <p:cNvCxnSpPr/>
            <p:nvPr/>
          </p:nvCxnSpPr>
          <p:spPr>
            <a:xfrm flipH="1">
              <a:off x="1152" y="1440"/>
              <a:ext cx="24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  <p:cxnSp>
          <p:nvCxnSpPr>
            <p:cNvPr id="346" name="Google Shape;346;p27"/>
            <p:cNvCxnSpPr/>
            <p:nvPr/>
          </p:nvCxnSpPr>
          <p:spPr>
            <a:xfrm flipH="1">
              <a:off x="1584" y="1440"/>
              <a:ext cx="1392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  <p:cxnSp>
          <p:nvCxnSpPr>
            <p:cNvPr id="347" name="Google Shape;347;p27"/>
            <p:cNvCxnSpPr/>
            <p:nvPr/>
          </p:nvCxnSpPr>
          <p:spPr>
            <a:xfrm>
              <a:off x="576" y="1392"/>
              <a:ext cx="48" cy="3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</p:grpSp>
      <p:grpSp>
        <p:nvGrpSpPr>
          <p:cNvPr id="348" name="Google Shape;348;p27"/>
          <p:cNvGrpSpPr/>
          <p:nvPr/>
        </p:nvGrpSpPr>
        <p:grpSpPr>
          <a:xfrm>
            <a:off x="3505200" y="4371975"/>
            <a:ext cx="5149850" cy="581025"/>
            <a:chOff x="2208" y="1410"/>
            <a:chExt cx="3244" cy="366"/>
          </a:xfrm>
        </p:grpSpPr>
        <p:cxnSp>
          <p:nvCxnSpPr>
            <p:cNvPr id="349" name="Google Shape;349;p27"/>
            <p:cNvCxnSpPr/>
            <p:nvPr/>
          </p:nvCxnSpPr>
          <p:spPr>
            <a:xfrm>
              <a:off x="4053" y="1410"/>
              <a:ext cx="1399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none"/>
            </a:ln>
          </p:spPr>
        </p:cxnSp>
        <p:cxnSp>
          <p:nvCxnSpPr>
            <p:cNvPr id="350" name="Google Shape;350;p27"/>
            <p:cNvCxnSpPr/>
            <p:nvPr/>
          </p:nvCxnSpPr>
          <p:spPr>
            <a:xfrm flipH="1">
              <a:off x="2208" y="1440"/>
              <a:ext cx="2304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8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356" name="Google Shape;356;p28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First Address just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add 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0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Net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address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20 .  87 . 80 .  0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+    1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20 .  87 . 80 .  1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●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Last Address just </a:t>
            </a:r>
            <a:r>
              <a:rPr b="1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subtract 1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0" i="0" lang="en-US" sz="2800" u="none">
                <a:solidFill>
                  <a:srgbClr val="D10B3A"/>
                </a:solidFill>
                <a:latin typeface="Arial"/>
                <a:ea typeface="Arial"/>
                <a:cs typeface="Arial"/>
                <a:sym typeface="Arial"/>
              </a:rPr>
              <a:t>broadcast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address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20 .  87 . 95 .  255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-    1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1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20 .  87 . 95 .  254</a:t>
            </a:r>
            <a:endParaRPr/>
          </a:p>
          <a:p>
            <a:pPr indent="-218440" lvl="0" marL="342900" rtl="0" algn="l"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b="1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" name="Google Shape;357;p28"/>
          <p:cNvCxnSpPr/>
          <p:nvPr/>
        </p:nvCxnSpPr>
        <p:spPr>
          <a:xfrm>
            <a:off x="3200400" y="2667000"/>
            <a:ext cx="289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358" name="Google Shape;358;p28"/>
          <p:cNvCxnSpPr/>
          <p:nvPr/>
        </p:nvCxnSpPr>
        <p:spPr>
          <a:xfrm>
            <a:off x="3124200" y="5181600"/>
            <a:ext cx="289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</a:t>
            </a:r>
            <a:endParaRPr/>
          </a:p>
        </p:txBody>
      </p:sp>
      <p:sp>
        <p:nvSpPr>
          <p:cNvPr id="364" name="Google Shape;364;p29"/>
          <p:cNvSpPr txBox="1"/>
          <p:nvPr>
            <p:ph idx="1" type="body"/>
          </p:nvPr>
        </p:nvSpPr>
        <p:spPr>
          <a:xfrm>
            <a:off x="228600" y="1143000"/>
            <a:ext cx="8915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2.d) Host IP in each subnet = (2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2) = 4094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Unnecessary Host IPs = 4094  – 3600 = 494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Host IP losses for subnetting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Total Host IPs in Original Net =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Bits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2 = 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Host IPs  in subnets = Total subnet X Host IP in each subnet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=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(2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2) = B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Losses = A – B = (2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2) –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(2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2)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=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 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+ 2</a:t>
            </a:r>
            <a:r>
              <a:rPr b="0" baseline="3000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2 = 2046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0"/>
          <p:cNvSpPr txBox="1"/>
          <p:nvPr>
            <p:ph type="title"/>
          </p:nvPr>
        </p:nvSpPr>
        <p:spPr>
          <a:xfrm>
            <a:off x="215900" y="228600"/>
            <a:ext cx="8839200" cy="758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b="1" i="0" lang="en-US" sz="32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Problem – 03 (DIY at lab)</a:t>
            </a:r>
            <a:endParaRPr/>
          </a:p>
        </p:txBody>
      </p:sp>
      <p:sp>
        <p:nvSpPr>
          <p:cNvPr id="370" name="Google Shape;370;p30"/>
          <p:cNvSpPr txBox="1"/>
          <p:nvPr>
            <p:ph idx="1" type="body"/>
          </p:nvPr>
        </p:nvSpPr>
        <p:spPr>
          <a:xfrm>
            <a:off x="228600" y="1143000"/>
            <a:ext cx="86868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Let an ISP is assigned an address block, and consider one of the address from that block is 20.69.0.0 /10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1023 subnets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Subnet the network to meet your goal ( Host IP loss should be as minimum as possible)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subnets created?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host addresses/subnet?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 subnet # (</a:t>
            </a:r>
            <a:r>
              <a:rPr b="0" i="1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reverse_of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(first digit+roll_no) )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Find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Address of the subnet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First, Last host address</a:t>
            </a:r>
            <a:endParaRPr/>
          </a:p>
          <a:p>
            <a:pPr indent="-419100" lvl="2" marL="133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AutoNum type="alphaL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Broadcast address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AutoNum type="arabicPeriod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Host IP address losses due to subnetting?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udio">
  <a:themeElements>
    <a:clrScheme name="Studio 1">
      <a:dk1>
        <a:srgbClr val="000000"/>
      </a:dk1>
      <a:lt1>
        <a:srgbClr val="FFFFFF"/>
      </a:lt1>
      <a:dk2>
        <a:srgbClr val="336666"/>
      </a:dk2>
      <a:lt2>
        <a:srgbClr val="CCCC99"/>
      </a:lt2>
      <a:accent1>
        <a:srgbClr val="97CDCC"/>
      </a:accent1>
      <a:accent2>
        <a:srgbClr val="D6E0E0"/>
      </a:accent2>
      <a:accent3>
        <a:srgbClr val="FFFFFF"/>
      </a:accent3>
      <a:accent4>
        <a:srgbClr val="000000"/>
      </a:accent4>
      <a:accent5>
        <a:srgbClr val="C9E3E2"/>
      </a:accent5>
      <a:accent6>
        <a:srgbClr val="C2CBCB"/>
      </a:accent6>
      <a:hlink>
        <a:srgbClr val="99CC00"/>
      </a:hlink>
      <a:folHlink>
        <a:srgbClr val="3366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2009-04-24T16:31:33Z</dcterms:created>
  <dc:creator>mony</dc:creator>
</cp:coreProperties>
</file>